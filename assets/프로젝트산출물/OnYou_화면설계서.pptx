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</p:sldIdLst>
  <p:sldSz cy="5143500" cx="9144000"/>
  <p:notesSz cx="5143500" cy="9144000"/>
  <p:embeddedFontLst>
    <p:embeddedFont>
      <p:font typeface="Noto Sans KR"/>
      <p:regular r:id="rId38"/>
      <p:bold r:id="rId39"/>
    </p:embeddedFont>
    <p:embeddedFont>
      <p:font typeface="Noto Sans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4" roundtripDataSignature="AMtx7mjpRUhHRvPD1Yx7+b0LZzExNwxq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otoSans-regular.fntdata"/><Relationship Id="rId20" Type="http://schemas.openxmlformats.org/officeDocument/2006/relationships/slide" Target="slides/slide16.xml"/><Relationship Id="rId42" Type="http://schemas.openxmlformats.org/officeDocument/2006/relationships/font" Target="fonts/NotoSans-italic.fntdata"/><Relationship Id="rId41" Type="http://schemas.openxmlformats.org/officeDocument/2006/relationships/font" Target="fonts/NotoSans-bold.fntdata"/><Relationship Id="rId22" Type="http://schemas.openxmlformats.org/officeDocument/2006/relationships/slide" Target="slides/slide18.xml"/><Relationship Id="rId44" Type="http://customschemas.google.com/relationships/presentationmetadata" Target="metadata"/><Relationship Id="rId21" Type="http://schemas.openxmlformats.org/officeDocument/2006/relationships/slide" Target="slides/slide17.xml"/><Relationship Id="rId43" Type="http://schemas.openxmlformats.org/officeDocument/2006/relationships/font" Target="fonts/NotoSans-boldItalic.fntdata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font" Target="fonts/NotoSansKR-bold.fntdata"/><Relationship Id="rId16" Type="http://schemas.openxmlformats.org/officeDocument/2006/relationships/slide" Target="slides/slide12.xml"/><Relationship Id="rId38" Type="http://schemas.openxmlformats.org/officeDocument/2006/relationships/font" Target="fonts/NotoSansKR-regular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" name="Google Shape;47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4" name="Google Shape;51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7" name="Google Shape;52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2" name="Google Shape;56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7" name="Google Shape;59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2" name="Google Shape;63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5" name="Google Shape;64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0" name="Google Shape;68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3" name="Google Shape;693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8" name="Google Shape;728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3" name="Google Shape;763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8" name="Google Shape;798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3" name="Google Shape;833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8" name="Google Shape;868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3" name="Google Shape;903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6" name="Google Shape;916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1" name="Google Shape;951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8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9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2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5943600" y="2560320"/>
            <a:ext cx="4114800" cy="4114800"/>
          </a:xfrm>
          <a:prstGeom prst="ellipse">
            <a:avLst/>
          </a:prstGeom>
          <a:solidFill>
            <a:srgbClr val="D4EDB8">
              <a:alpha val="60000"/>
            </a:srgbClr>
          </a:solidFill>
          <a:ln cap="flat" cmpd="sng" w="12700">
            <a:solidFill>
              <a:srgbClr val="D4EDB8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84C13D">
              <a:alpha val="40000"/>
            </a:srgbClr>
          </a:solidFill>
          <a:ln cap="flat" cmpd="sng" w="12700">
            <a:solidFill>
              <a:srgbClr val="84C13D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640080" y="1005840"/>
            <a:ext cx="548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C13D"/>
              </a:buClr>
              <a:buSzPts val="6200"/>
              <a:buFont typeface="Noto Sans KR"/>
              <a:buNone/>
            </a:pPr>
            <a:r>
              <a:rPr b="1" i="0" lang="en-US" sz="6200" u="none" cap="none" strike="noStrike">
                <a:solidFill>
                  <a:srgbClr val="84C13D"/>
                </a:solidFill>
                <a:latin typeface="Noto Sans"/>
                <a:ea typeface="Noto Sans"/>
                <a:cs typeface="Noto Sans"/>
                <a:sym typeface="Noto Sans"/>
              </a:rPr>
              <a:t>O</a:t>
            </a:r>
            <a:r>
              <a:rPr b="1" lang="en-US" sz="6200">
                <a:solidFill>
                  <a:srgbClr val="84C13D"/>
                </a:solidFill>
                <a:latin typeface="Noto Sans"/>
                <a:ea typeface="Noto Sans"/>
                <a:cs typeface="Noto Sans"/>
                <a:sym typeface="Noto Sans"/>
              </a:rPr>
              <a:t>n </a:t>
            </a:r>
            <a:r>
              <a:rPr b="1" i="0" lang="en-US" sz="6200" u="none" cap="none" strike="noStrike">
                <a:solidFill>
                  <a:srgbClr val="84C13D"/>
                </a:solidFill>
                <a:latin typeface="Noto Sans"/>
                <a:ea typeface="Noto Sans"/>
                <a:cs typeface="Noto Sans"/>
                <a:sym typeface="Noto Sans"/>
              </a:rPr>
              <a:t>Y</a:t>
            </a:r>
            <a:r>
              <a:rPr b="1" lang="en-US" sz="6200">
                <a:solidFill>
                  <a:srgbClr val="84C13D"/>
                </a:solidFill>
                <a:latin typeface="Noto Sans"/>
                <a:ea typeface="Noto Sans"/>
                <a:cs typeface="Noto Sans"/>
                <a:sym typeface="Noto Sans"/>
              </a:rPr>
              <a:t>ou</a:t>
            </a:r>
            <a:endParaRPr i="0" sz="6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40080" y="2194560"/>
            <a:ext cx="5486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3200"/>
              <a:buFont typeface="Noto Sans KR"/>
              <a:buNone/>
            </a:pPr>
            <a:r>
              <a:rPr b="0" i="0" lang="en-US" sz="3200" u="none" cap="none" strike="noStrike">
                <a:solidFill>
                  <a:srgbClr val="1E1E1E"/>
                </a:solidFill>
                <a:latin typeface="Noto Sans KR"/>
                <a:ea typeface="Noto Sans KR"/>
                <a:cs typeface="Noto Sans KR"/>
                <a:sym typeface="Noto Sans KR"/>
              </a:rPr>
              <a:t>화면 설계서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40080" y="3108960"/>
            <a:ext cx="1463040" cy="64008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640080" y="329184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00"/>
              <a:buFont typeface="Noto Sans KR"/>
              <a:buNone/>
            </a:pPr>
            <a:r>
              <a:rPr b="0" i="0" lang="en-US" sz="14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나만의 AI 피부 분석 서비스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40080" y="4462272"/>
            <a:ext cx="7772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 KR"/>
              <a:buNone/>
            </a:pPr>
            <a:r>
              <a:rPr i="0" lang="en-US" sz="1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SKN23-4th-3TEAM  |  2026.03.24</a:t>
            </a:r>
            <a:endParaRPr sz="1200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365760" y="91440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1E1E1E"/>
                </a:solidFill>
                <a:latin typeface="Noto Sans KR"/>
                <a:ea typeface="Noto Sans KR"/>
                <a:cs typeface="Noto Sans KR"/>
                <a:sym typeface="Noto Sans KR"/>
              </a:rPr>
              <a:t>목 차</a:t>
            </a:r>
            <a:endParaRPr b="1" i="0" sz="15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320040" y="713232"/>
            <a:ext cx="4160520" cy="95097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320040" y="713232"/>
            <a:ext cx="64008" cy="950976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457200" y="768096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C13D"/>
              </a:buClr>
              <a:buSzPts val="2000"/>
              <a:buFont typeface="Noto Sans KR"/>
              <a:buNone/>
            </a:pPr>
            <a:r>
              <a:rPr b="1" i="0" lang="en-US" sz="2000" u="none" cap="none" strike="noStrike">
                <a:solidFill>
                  <a:srgbClr val="84C13D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978408" y="777240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Noto Sans KR"/>
              <a:buNone/>
            </a:pPr>
            <a:r>
              <a:rPr b="1" i="0" lang="en-US" sz="1400" u="none" cap="none" strike="noStrike">
                <a:solidFill>
                  <a:srgbClr val="1E1E1E"/>
                </a:solidFill>
                <a:latin typeface="Noto Sans KR"/>
                <a:ea typeface="Noto Sans KR"/>
                <a:cs typeface="Noto Sans KR"/>
                <a:sym typeface="Noto Sans KR"/>
              </a:rPr>
              <a:t>채팅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978408" y="1170432"/>
            <a:ext cx="3337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새채팅 · 답변 · 업로드 · 추천 · </a:t>
            </a: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피부</a:t>
            </a: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 분석 · 퍼스널컬러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754880" y="713232"/>
            <a:ext cx="4160520" cy="95097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4754880" y="713232"/>
            <a:ext cx="64008" cy="950976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4892040" y="768096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C13D"/>
              </a:buClr>
              <a:buSzPts val="2000"/>
              <a:buFont typeface="Noto Sans KR"/>
              <a:buNone/>
            </a:pPr>
            <a:r>
              <a:rPr b="1" i="0" lang="en-US" sz="2000" u="none" cap="none" strike="noStrike">
                <a:solidFill>
                  <a:srgbClr val="84C13D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413248" y="777240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Noto Sans KR"/>
              <a:buNone/>
            </a:pPr>
            <a:r>
              <a:rPr b="1" i="0" lang="en-US" sz="1400" u="none" cap="none" strike="noStrike">
                <a:solidFill>
                  <a:srgbClr val="1E1E1E"/>
                </a:solidFill>
                <a:latin typeface="Noto Sans KR"/>
                <a:ea typeface="Noto Sans KR"/>
                <a:cs typeface="Noto Sans KR"/>
                <a:sym typeface="Noto Sans KR"/>
              </a:rPr>
              <a:t>피부 분석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413248" y="1170432"/>
            <a:ext cx="3337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종합 분석 · 비교 분석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320040" y="1764792"/>
            <a:ext cx="4160520" cy="95097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320040" y="1764792"/>
            <a:ext cx="64008" cy="950976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457200" y="1819656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C13D"/>
              </a:buClr>
              <a:buSzPts val="2000"/>
              <a:buFont typeface="Noto Sans KR"/>
              <a:buNone/>
            </a:pPr>
            <a:r>
              <a:rPr b="1" i="0" lang="en-US" sz="2000" u="none" cap="none" strike="noStrike">
                <a:solidFill>
                  <a:srgbClr val="84C13D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978408" y="1828800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Noto Sans KR"/>
              <a:buNone/>
            </a:pPr>
            <a:r>
              <a:rPr b="1" i="0" lang="en-US" sz="1400" u="none" cap="none" strike="noStrike">
                <a:solidFill>
                  <a:srgbClr val="1E1E1E"/>
                </a:solidFill>
                <a:latin typeface="Noto Sans KR"/>
                <a:ea typeface="Noto Sans KR"/>
                <a:cs typeface="Noto Sans KR"/>
                <a:sym typeface="Noto Sans KR"/>
              </a:rPr>
              <a:t>피부 MBTI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978408" y="2221992"/>
            <a:ext cx="3337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MBTI 테스트 · 결과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754880" y="1764792"/>
            <a:ext cx="4160520" cy="95097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4754880" y="1764792"/>
            <a:ext cx="64008" cy="950976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4892040" y="1819656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C13D"/>
              </a:buClr>
              <a:buSzPts val="2000"/>
              <a:buFont typeface="Noto Sans KR"/>
              <a:buNone/>
            </a:pPr>
            <a:r>
              <a:rPr b="1" i="0" lang="en-US" sz="2000" u="none" cap="none" strike="noStrike">
                <a:solidFill>
                  <a:srgbClr val="84C13D"/>
                </a:solidFill>
                <a:latin typeface="Noto Sans KR"/>
                <a:ea typeface="Noto Sans KR"/>
                <a:cs typeface="Noto Sans KR"/>
                <a:sym typeface="Noto Sans KR"/>
              </a:rPr>
              <a:t>04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5413248" y="1828800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Noto Sans KR"/>
              <a:buNone/>
            </a:pPr>
            <a:r>
              <a:rPr b="1" i="0" lang="en-US" sz="1400" u="none" cap="none" strike="noStrike">
                <a:solidFill>
                  <a:srgbClr val="1E1E1E"/>
                </a:solidFill>
                <a:latin typeface="Noto Sans KR"/>
                <a:ea typeface="Noto Sans KR"/>
                <a:cs typeface="Noto Sans KR"/>
                <a:sym typeface="Noto Sans KR"/>
              </a:rPr>
              <a:t>위시리스트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5413248" y="2221992"/>
            <a:ext cx="3337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저장된 제품 목록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320040" y="2816352"/>
            <a:ext cx="4160520" cy="95097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320040" y="2816352"/>
            <a:ext cx="64008" cy="950976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457200" y="2871216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C13D"/>
              </a:buClr>
              <a:buSzPts val="2000"/>
              <a:buFont typeface="Noto Sans KR"/>
              <a:buNone/>
            </a:pPr>
            <a:r>
              <a:rPr b="1" i="0" lang="en-US" sz="2000" u="none" cap="none" strike="noStrike">
                <a:solidFill>
                  <a:srgbClr val="84C13D"/>
                </a:solidFill>
                <a:latin typeface="Noto Sans KR"/>
                <a:ea typeface="Noto Sans KR"/>
                <a:cs typeface="Noto Sans KR"/>
                <a:sym typeface="Noto Sans KR"/>
              </a:rPr>
              <a:t>05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978408" y="2880360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Noto Sans KR"/>
              <a:buNone/>
            </a:pPr>
            <a:r>
              <a:rPr b="1" i="0" lang="en-US" sz="1400" u="none" cap="none" strike="noStrike">
                <a:solidFill>
                  <a:srgbClr val="1E1E1E"/>
                </a:solidFill>
                <a:latin typeface="Noto Sans KR"/>
                <a:ea typeface="Noto Sans KR"/>
                <a:cs typeface="Noto Sans KR"/>
                <a:sym typeface="Noto Sans KR"/>
              </a:rPr>
              <a:t>인증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978408" y="3273552"/>
            <a:ext cx="3337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로그인 · 회원가입 · 비밀번호찾기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4754880" y="2816352"/>
            <a:ext cx="4160520" cy="95097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4754880" y="2816352"/>
            <a:ext cx="64008" cy="950976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4892040" y="2871216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C13D"/>
              </a:buClr>
              <a:buSzPts val="2000"/>
              <a:buFont typeface="Noto Sans KR"/>
              <a:buNone/>
            </a:pPr>
            <a:r>
              <a:rPr b="1" i="0" lang="en-US" sz="2000" u="none" cap="none" strike="noStrike">
                <a:solidFill>
                  <a:srgbClr val="84C13D"/>
                </a:solidFill>
                <a:latin typeface="Noto Sans KR"/>
                <a:ea typeface="Noto Sans KR"/>
                <a:cs typeface="Noto Sans KR"/>
                <a:sym typeface="Noto Sans KR"/>
              </a:rPr>
              <a:t>06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5413248" y="2880360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Noto Sans KR"/>
              <a:buNone/>
            </a:pPr>
            <a:r>
              <a:rPr b="1" i="0" lang="en-US" sz="1400" u="none" cap="none" strike="noStrike">
                <a:solidFill>
                  <a:srgbClr val="1E1E1E"/>
                </a:solidFill>
                <a:latin typeface="Noto Sans KR"/>
                <a:ea typeface="Noto Sans KR"/>
                <a:cs typeface="Noto Sans KR"/>
                <a:sym typeface="Noto Sans KR"/>
              </a:rPr>
              <a:t>온보딩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5413248" y="3273552"/>
            <a:ext cx="3337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최초 프로필 및 피부 정보 설정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320040" y="3867912"/>
            <a:ext cx="4160520" cy="95097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320040" y="3867912"/>
            <a:ext cx="64008" cy="950976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457200" y="3922776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C13D"/>
              </a:buClr>
              <a:buSzPts val="2000"/>
              <a:buFont typeface="Noto Sans KR"/>
              <a:buNone/>
            </a:pPr>
            <a:r>
              <a:rPr b="1" i="0" lang="en-US" sz="2000" u="none" cap="none" strike="noStrike">
                <a:solidFill>
                  <a:srgbClr val="84C13D"/>
                </a:solidFill>
                <a:latin typeface="Noto Sans KR"/>
                <a:ea typeface="Noto Sans KR"/>
                <a:cs typeface="Noto Sans KR"/>
                <a:sym typeface="Noto Sans KR"/>
              </a:rPr>
              <a:t>07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978408" y="3931920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Noto Sans KR"/>
              <a:buNone/>
            </a:pPr>
            <a:r>
              <a:rPr b="1" i="0" lang="en-US" sz="1400" u="none" cap="none" strike="noStrike">
                <a:solidFill>
                  <a:srgbClr val="1E1E1E"/>
                </a:solidFill>
                <a:latin typeface="Noto Sans KR"/>
                <a:ea typeface="Noto Sans KR"/>
                <a:cs typeface="Noto Sans KR"/>
                <a:sym typeface="Noto Sans KR"/>
              </a:rPr>
              <a:t>설정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978408" y="4325112"/>
            <a:ext cx="3337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프로필 · 소셜연동 · 문의 · 회원탈퇴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4754880" y="3867912"/>
            <a:ext cx="4160520" cy="95097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4754880" y="3867912"/>
            <a:ext cx="64008" cy="950976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4892040" y="3922776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C13D"/>
              </a:buClr>
              <a:buSzPts val="2000"/>
              <a:buFont typeface="Noto Sans KR"/>
              <a:buNone/>
            </a:pPr>
            <a:r>
              <a:rPr b="1" i="0" lang="en-US" sz="2000" u="none" cap="none" strike="noStrike">
                <a:solidFill>
                  <a:srgbClr val="84C13D"/>
                </a:solidFill>
                <a:latin typeface="Noto Sans KR"/>
                <a:ea typeface="Noto Sans KR"/>
                <a:cs typeface="Noto Sans KR"/>
                <a:sym typeface="Noto Sans KR"/>
              </a:rPr>
              <a:t>08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5413248" y="3931920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Noto Sans KR"/>
              <a:buNone/>
            </a:pPr>
            <a:r>
              <a:rPr b="1" i="0" lang="en-US" sz="1400" u="none" cap="none" strike="noStrike">
                <a:solidFill>
                  <a:srgbClr val="1E1E1E"/>
                </a:solidFill>
                <a:latin typeface="Noto Sans KR"/>
                <a:ea typeface="Noto Sans KR"/>
                <a:cs typeface="Noto Sans KR"/>
                <a:sym typeface="Noto Sans KR"/>
              </a:rPr>
              <a:t>FAQ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5413248" y="4325112"/>
            <a:ext cx="3337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자주 묻는 질문 모음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i="0" lang="en-US" sz="750" u="none" cap="none" strike="noStrike">
                <a:solidFill>
                  <a:srgbClr val="9E9E9E"/>
                </a:solidFill>
                <a:latin typeface="Noto Sans"/>
                <a:ea typeface="Noto Sans"/>
                <a:cs typeface="Noto Sans"/>
                <a:sym typeface="Noto Sans"/>
              </a:rPr>
              <a:t>O</a:t>
            </a:r>
            <a:r>
              <a:rPr lang="en-US" sz="750">
                <a:solidFill>
                  <a:srgbClr val="9E9E9E"/>
                </a:solidFill>
                <a:latin typeface="Noto Sans"/>
                <a:ea typeface="Noto Sans"/>
                <a:cs typeface="Noto Sans"/>
                <a:sym typeface="Noto Sans"/>
              </a:rPr>
              <a:t>n You</a:t>
            </a:r>
            <a:r>
              <a:rPr i="0" lang="en-US" sz="750" u="none" cap="none" strike="noStrike">
                <a:solidFill>
                  <a:srgbClr val="9E9E9E"/>
                </a:solidFill>
                <a:latin typeface="Noto Sans"/>
                <a:ea typeface="Noto Sans"/>
                <a:cs typeface="Noto Sans"/>
                <a:sym typeface="Noto Sans"/>
              </a:rPr>
              <a:t> 화면 설계서  |  © 2026 ONYOU.</a:t>
            </a:r>
            <a:endParaRPr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-731520" y="2926080"/>
            <a:ext cx="2743200" cy="2743200"/>
          </a:xfrm>
          <a:prstGeom prst="ellipse">
            <a:avLst/>
          </a:prstGeom>
          <a:solidFill>
            <a:srgbClr val="5A8A28">
              <a:alpha val="30196"/>
            </a:srgbClr>
          </a:solidFill>
          <a:ln cap="flat" cmpd="sng" w="12700">
            <a:solidFill>
              <a:srgbClr val="5A8A28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137160" y="457200"/>
            <a:ext cx="32004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0"/>
              <a:buFont typeface="Noto Sans KR"/>
              <a:buNone/>
            </a:pPr>
            <a:r>
              <a:rPr b="1" i="0" lang="en-US" sz="100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 b="0" i="0" sz="10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3840480" y="1371600"/>
            <a:ext cx="5029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3600"/>
              <a:buFont typeface="Noto Sans KR"/>
              <a:buNone/>
            </a:pPr>
            <a:r>
              <a:rPr b="1" i="0" lang="en-US" sz="3600" u="none" cap="none" strike="noStrike">
                <a:solidFill>
                  <a:srgbClr val="1E1E1E"/>
                </a:solidFill>
                <a:latin typeface="Noto Sans KR"/>
                <a:ea typeface="Noto Sans KR"/>
                <a:cs typeface="Noto Sans KR"/>
                <a:sym typeface="Noto Sans KR"/>
              </a:rPr>
              <a:t>채팅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3840480" y="2423160"/>
            <a:ext cx="1097280" cy="54864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3840480" y="260604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AI 피부 상담 채팅 인터페이스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365760" y="4919472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lang="en-US" sz="750">
                <a:solidFill>
                  <a:srgbClr val="9E9E9E"/>
                </a:solidFill>
                <a:latin typeface="Noto Sans"/>
                <a:ea typeface="Noto Sans"/>
                <a:cs typeface="Noto Sans"/>
                <a:sym typeface="Noto Sans"/>
              </a:rPr>
              <a:t>On You 화면 설계서  |  © 2026 ONYOU.</a:t>
            </a:r>
            <a:endParaRPr sz="800">
              <a:solidFill>
                <a:srgbClr val="9E9E9E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0" y="0"/>
            <a:ext cx="54864" cy="566928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201168" y="100584"/>
            <a:ext cx="1234440" cy="347472"/>
          </a:xfrm>
          <a:prstGeom prst="roundRect">
            <a:avLst>
              <a:gd fmla="val 18421" name="adj"/>
            </a:avLst>
          </a:prstGeom>
          <a:solidFill>
            <a:srgbClr val="D4EDB8"/>
          </a:solidFill>
          <a:ln cap="flat" cmpd="sng" w="12700">
            <a:solidFill>
              <a:srgbClr val="D4E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201168" y="100584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850"/>
              <a:buFont typeface="Noto Sans KR"/>
              <a:buNone/>
            </a:pPr>
            <a:r>
              <a:rPr b="1" i="0" lang="en-US" sz="8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01 채팅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1554480" y="91440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Noto Sans KR"/>
              <a:buNone/>
            </a:pPr>
            <a:r>
              <a:rPr b="1" i="0" lang="en-US" sz="1400" u="none" cap="none" strike="noStrike">
                <a:solidFill>
                  <a:srgbClr val="1E1E1E"/>
                </a:solidFill>
                <a:latin typeface="Noto Sans KR"/>
                <a:ea typeface="Noto Sans KR"/>
                <a:cs typeface="Noto Sans KR"/>
                <a:sym typeface="Noto Sans KR"/>
              </a:rPr>
              <a:t>1-1    채팅 – 새 채팅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5833872" y="91440"/>
            <a:ext cx="13716" cy="38404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5870448" y="73152"/>
            <a:ext cx="6583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00"/>
              <a:buFont typeface="Noto Sans KR"/>
              <a:buNone/>
            </a:pPr>
            <a:r>
              <a:rPr b="1" i="0" lang="en-US" sz="70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화면경로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5870448" y="256032"/>
            <a:ext cx="1572768" cy="219456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5888736" y="256032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i="1" lang="en-US" sz="750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홈</a:t>
            </a:r>
            <a:endParaRPr i="0" sz="7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7498080" y="91440"/>
            <a:ext cx="13716" cy="38404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7534656" y="7315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00"/>
              <a:buFont typeface="Noto Sans KR"/>
              <a:buNone/>
            </a:pPr>
            <a:r>
              <a:rPr b="1" i="0" lang="en-US" sz="70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요구사항 ID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7534656" y="256032"/>
            <a:ext cx="1481328" cy="219456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7552944" y="256032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b="0" i="1" lang="en-US" sz="75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CHAT01, </a:t>
            </a:r>
            <a:r>
              <a:rPr i="1" lang="en-US" sz="750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UI01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0" y="566928"/>
            <a:ext cx="9144000" cy="1828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256032" y="685800"/>
            <a:ext cx="5532120" cy="4160520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8" name="Google Shape;10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032" y="1356752"/>
            <a:ext cx="5532120" cy="281861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4"/>
          <p:cNvSpPr/>
          <p:nvPr/>
        </p:nvSpPr>
        <p:spPr>
          <a:xfrm>
            <a:off x="6035040" y="685800"/>
            <a:ext cx="2852928" cy="402336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6035040" y="685800"/>
            <a:ext cx="28529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화면번호  1-1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6035040" y="1152144"/>
            <a:ext cx="2852928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6035040" y="1152144"/>
            <a:ext cx="2852928" cy="45720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6163056" y="1243584"/>
            <a:ext cx="2596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950"/>
              <a:buFont typeface="Noto Sans KR"/>
              <a:buNone/>
            </a:pPr>
            <a:r>
              <a:rPr b="1" i="0" lang="en-US" sz="9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화면 설명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6163056" y="1517904"/>
            <a:ext cx="2596896" cy="13716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6163056" y="1554480"/>
            <a:ext cx="2596896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lang="en-US" sz="85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사이트 접속 시 가장 먼저 노출되는 화면으로, 중앙에 AI 도우미 'CHAT' 애니메이션과 함께 사용자가 참고할 수 있는 질문 예시가 표시됩니다.</a:t>
            </a:r>
            <a:endParaRPr sz="85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t/>
            </a:r>
            <a:endParaRPr sz="85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lang="en-US" sz="85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비회원은 채팅 기능을 자유롭게 사용할 수 있습니다.</a:t>
            </a:r>
            <a:endParaRPr sz="85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lang="en-US" sz="85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회원은 채팅 기능뿐만 아니라, 이미지를 활용한 피부 분석, 성분 분석, 퍼스널 컬러 분석 기능도 이용할 수 있습니다.</a:t>
            </a:r>
            <a:endParaRPr sz="85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t/>
            </a:r>
            <a:endParaRPr sz="85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lang="en-US" sz="85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본 화면은 사용자가 간편하게 AI 도우미와 소통하고, 필요에 따라 풍부한 피부 관련 맞춤 분석 서비스를 이용할 수 있도록 구성되었습니다.</a:t>
            </a:r>
            <a:endParaRPr sz="85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6035040" y="3145536"/>
            <a:ext cx="2852928" cy="17007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6035040" y="3145536"/>
            <a:ext cx="2852928" cy="45720"/>
          </a:xfrm>
          <a:prstGeom prst="rect">
            <a:avLst/>
          </a:prstGeom>
          <a:solidFill>
            <a:srgbClr val="D4EDB8"/>
          </a:solidFill>
          <a:ln cap="flat" cmpd="sng" w="12700">
            <a:solidFill>
              <a:srgbClr val="D4E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6163056" y="3236976"/>
            <a:ext cx="2596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950"/>
              <a:buFont typeface="Noto Sans KR"/>
              <a:buNone/>
            </a:pPr>
            <a:r>
              <a:rPr b="1" i="0" lang="en-US" sz="9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주석 / 메모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6163056" y="3511296"/>
            <a:ext cx="2596896" cy="13716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6163056" y="3547872"/>
            <a:ext cx="259689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</a:t>
            </a: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회원, 비회원 기능 구분은 로그인 상태 기반 권한 확인 후 기능 노출 여부를 제어</a:t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사이드바 메뉴는 공통 컴포넌트로 관리하여 향후 메뉴 확장 시 유지보수 용이성 고려</a:t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모바일 환경에서는 화면 폭에 따라 사이드바를 숨기고 햄버거 메뉴로 전환</a:t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274320" y="4956048"/>
            <a:ext cx="85953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lang="en-US" sz="750">
                <a:solidFill>
                  <a:srgbClr val="9E9E9E"/>
                </a:solidFill>
                <a:latin typeface="Noto Sans"/>
                <a:ea typeface="Noto Sans"/>
                <a:cs typeface="Noto Sans"/>
                <a:sym typeface="Noto Sans"/>
              </a:rPr>
              <a:t>On You 화면 설계서  |  © 2026 ONYOU.</a:t>
            </a:r>
            <a:r>
              <a:rPr i="0" lang="en-US" sz="750" u="none" cap="none" strike="noStrike">
                <a:solidFill>
                  <a:srgbClr val="9E9E9E"/>
                </a:solidFill>
                <a:latin typeface="Noto Sans"/>
                <a:ea typeface="Noto Sans"/>
                <a:cs typeface="Noto Sans"/>
                <a:sym typeface="Noto Sans"/>
              </a:rPr>
              <a:t> All rights reserved.</a:t>
            </a:r>
            <a:endParaRPr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0" y="0"/>
            <a:ext cx="54864" cy="566928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201168" y="100584"/>
            <a:ext cx="1234440" cy="347472"/>
          </a:xfrm>
          <a:prstGeom prst="roundRect">
            <a:avLst>
              <a:gd fmla="val 18421" name="adj"/>
            </a:avLst>
          </a:prstGeom>
          <a:solidFill>
            <a:srgbClr val="D4EDB8"/>
          </a:solidFill>
          <a:ln cap="flat" cmpd="sng" w="12700">
            <a:solidFill>
              <a:srgbClr val="D4E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201168" y="100584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850"/>
              <a:buFont typeface="Noto Sans KR"/>
              <a:buNone/>
            </a:pPr>
            <a:r>
              <a:rPr b="1" i="0" lang="en-US" sz="8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01 채팅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1554480" y="91440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Noto Sans KR"/>
              <a:buNone/>
            </a:pPr>
            <a:r>
              <a:rPr b="1" i="0" lang="en-US" sz="1400" u="none" cap="none" strike="noStrike">
                <a:solidFill>
                  <a:srgbClr val="1E1E1E"/>
                </a:solidFill>
                <a:latin typeface="Noto Sans KR"/>
                <a:ea typeface="Noto Sans KR"/>
                <a:cs typeface="Noto Sans KR"/>
                <a:sym typeface="Noto Sans KR"/>
              </a:rPr>
              <a:t>1-2    채팅 – 답변 생성 중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5833872" y="91440"/>
            <a:ext cx="13716" cy="38404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5870448" y="73152"/>
            <a:ext cx="6583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00"/>
              <a:buFont typeface="Noto Sans KR"/>
              <a:buNone/>
            </a:pPr>
            <a:r>
              <a:rPr b="1" i="0" lang="en-US" sz="70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화면경로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5870448" y="256032"/>
            <a:ext cx="1572768" cy="219456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7498080" y="91440"/>
            <a:ext cx="13716" cy="38404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7534656" y="7315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00"/>
              <a:buFont typeface="Noto Sans KR"/>
              <a:buNone/>
            </a:pPr>
            <a:r>
              <a:rPr b="1" i="0" lang="en-US" sz="70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요구사항 ID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7534656" y="256032"/>
            <a:ext cx="1481328" cy="219456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7552944" y="256032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i="1" lang="en-US" sz="750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CHAT01</a:t>
            </a:r>
            <a:endParaRPr i="1" sz="750">
              <a:solidFill>
                <a:srgbClr val="9E9E9E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0" y="566928"/>
            <a:ext cx="9144000" cy="1828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256032" y="685800"/>
            <a:ext cx="5532120" cy="4160520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2" name="Google Shape;14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032" y="1356752"/>
            <a:ext cx="5532120" cy="281861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/>
          <p:nvPr/>
        </p:nvSpPr>
        <p:spPr>
          <a:xfrm>
            <a:off x="6035040" y="685800"/>
            <a:ext cx="2852928" cy="402336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6035040" y="685800"/>
            <a:ext cx="28529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화면번호  1-2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6035040" y="1152144"/>
            <a:ext cx="2852928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6035040" y="1152144"/>
            <a:ext cx="2852928" cy="45720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6163056" y="1243584"/>
            <a:ext cx="2596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950"/>
              <a:buFont typeface="Noto Sans KR"/>
              <a:buNone/>
            </a:pPr>
            <a:r>
              <a:rPr b="1" i="0" lang="en-US" sz="9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화면 설명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6163056" y="1517904"/>
            <a:ext cx="2596896" cy="13716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6163056" y="1554480"/>
            <a:ext cx="2596896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AI가 피부 리듬에 맞춰 답변을 생성하는 로딩 상태 화면입니다.</a:t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t/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AI 캐릭터 애니메이션과 페르소나 메시지가 채팅 답변 영역 내에 표시되어 작업 진행 상황을 시각적으로 안내합니다.</a:t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t/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사용자가 선택한 분석 유형은 로딩 중에도 유지되어 연속성을 보장합니다.</a:t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6035040" y="3145536"/>
            <a:ext cx="2852928" cy="17007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6035040" y="3145536"/>
            <a:ext cx="2852928" cy="45720"/>
          </a:xfrm>
          <a:prstGeom prst="rect">
            <a:avLst/>
          </a:prstGeom>
          <a:solidFill>
            <a:srgbClr val="D4EDB8"/>
          </a:solidFill>
          <a:ln cap="flat" cmpd="sng" w="12700">
            <a:solidFill>
              <a:srgbClr val="D4E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6163056" y="3236976"/>
            <a:ext cx="2596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950"/>
              <a:buFont typeface="Noto Sans KR"/>
              <a:buNone/>
            </a:pPr>
            <a:r>
              <a:rPr b="1" i="0" lang="en-US" sz="9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주석 / 메모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6163056" y="3511296"/>
            <a:ext cx="2596896" cy="13716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6163056" y="3547872"/>
            <a:ext cx="259689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로딩 애니메이션 표시</a:t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상단에 이전 분석 요청 히스토리 표시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274320" y="4956048"/>
            <a:ext cx="85953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lang="en-US" sz="750">
                <a:solidFill>
                  <a:srgbClr val="9E9E9E"/>
                </a:solidFill>
                <a:latin typeface="Noto Sans"/>
                <a:ea typeface="Noto Sans"/>
                <a:cs typeface="Noto Sans"/>
                <a:sym typeface="Noto Sans"/>
              </a:rPr>
              <a:t>On You 화면 설계서  |  © 2026 ONYOU. All rights reserved.</a:t>
            </a:r>
            <a:endParaRPr sz="7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5888736" y="256032"/>
            <a:ext cx="155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i="1" lang="en-US" sz="750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홈</a:t>
            </a:r>
            <a:endParaRPr i="0" sz="7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0" y="0"/>
            <a:ext cx="54864" cy="566928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201168" y="100584"/>
            <a:ext cx="1234440" cy="347472"/>
          </a:xfrm>
          <a:prstGeom prst="roundRect">
            <a:avLst>
              <a:gd fmla="val 18421" name="adj"/>
            </a:avLst>
          </a:prstGeom>
          <a:solidFill>
            <a:srgbClr val="D4EDB8"/>
          </a:solidFill>
          <a:ln cap="flat" cmpd="sng" w="12700">
            <a:solidFill>
              <a:srgbClr val="D4E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201168" y="100584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850"/>
              <a:buFont typeface="Noto Sans KR"/>
              <a:buNone/>
            </a:pPr>
            <a:r>
              <a:rPr b="1" i="0" lang="en-US" sz="8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01 채팅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1554480" y="91440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Noto Sans KR"/>
              <a:buNone/>
            </a:pPr>
            <a:r>
              <a:rPr b="1" i="0" lang="en-US" sz="1400" u="none" cap="none" strike="noStrike">
                <a:solidFill>
                  <a:srgbClr val="1E1E1E"/>
                </a:solidFill>
                <a:latin typeface="Noto Sans KR"/>
                <a:ea typeface="Noto Sans KR"/>
                <a:cs typeface="Noto Sans KR"/>
                <a:sym typeface="Noto Sans KR"/>
              </a:rPr>
              <a:t>1-3    채팅 – 이미지 업로드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5833872" y="91440"/>
            <a:ext cx="13716" cy="38404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5870448" y="73152"/>
            <a:ext cx="6583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00"/>
              <a:buFont typeface="Noto Sans KR"/>
              <a:buNone/>
            </a:pPr>
            <a:r>
              <a:rPr b="1" i="0" lang="en-US" sz="70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화면경로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5870448" y="256032"/>
            <a:ext cx="1572768" cy="219456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7498080" y="91440"/>
            <a:ext cx="13716" cy="38404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7534656" y="7315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00"/>
              <a:buFont typeface="Noto Sans KR"/>
              <a:buNone/>
            </a:pPr>
            <a:r>
              <a:rPr b="1" i="0" lang="en-US" sz="70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요구사항 ID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7534656" y="256032"/>
            <a:ext cx="1481328" cy="219456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7552944" y="256032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i="1" lang="en-US" sz="750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UPLOAD</a:t>
            </a:r>
            <a:r>
              <a:rPr i="1" lang="en-US" sz="750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 i="1" sz="750">
              <a:solidFill>
                <a:srgbClr val="9E9E9E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0" y="566928"/>
            <a:ext cx="9144000" cy="1828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256032" y="685800"/>
            <a:ext cx="5532120" cy="4160520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7" name="Google Shape;17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032" y="1356752"/>
            <a:ext cx="5532120" cy="281861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6"/>
          <p:cNvSpPr/>
          <p:nvPr/>
        </p:nvSpPr>
        <p:spPr>
          <a:xfrm>
            <a:off x="6035040" y="685800"/>
            <a:ext cx="2852928" cy="402336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6035040" y="685800"/>
            <a:ext cx="28529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화면번호  1-3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6035040" y="1152144"/>
            <a:ext cx="2852928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6035040" y="1152144"/>
            <a:ext cx="2852928" cy="45720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6163056" y="1243584"/>
            <a:ext cx="2596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950"/>
              <a:buFont typeface="Noto Sans KR"/>
              <a:buNone/>
            </a:pPr>
            <a:r>
              <a:rPr b="1" i="0" lang="en-US" sz="9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화면 설명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6163056" y="1517904"/>
            <a:ext cx="2596896" cy="13716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"/>
          <p:cNvSpPr/>
          <p:nvPr/>
        </p:nvSpPr>
        <p:spPr>
          <a:xfrm>
            <a:off x="6163056" y="1554480"/>
            <a:ext cx="2596896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얼굴 사진을 업로드하여 피부 분석을 진행하는 기능을 제공합니다.</a:t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올바른 사진 촬영 방법을 안내하는 가이드 일러스트가 함께 표시되어 있어, 사용자가 정확한 사진을 준비할 수 있도록 도와줍니다.</a:t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분석 유형 선택에 따라 필요한 사진 종류와 안내 가이드가 동적으로 변경됩니다.</a:t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t/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6035040" y="3145536"/>
            <a:ext cx="2852928" cy="17007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"/>
          <p:cNvSpPr/>
          <p:nvPr/>
        </p:nvSpPr>
        <p:spPr>
          <a:xfrm>
            <a:off x="6035040" y="3145536"/>
            <a:ext cx="2852928" cy="45720"/>
          </a:xfrm>
          <a:prstGeom prst="rect">
            <a:avLst/>
          </a:prstGeom>
          <a:solidFill>
            <a:srgbClr val="D4EDB8"/>
          </a:solidFill>
          <a:ln cap="flat" cmpd="sng" w="12700">
            <a:solidFill>
              <a:srgbClr val="D4E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"/>
          <p:cNvSpPr/>
          <p:nvPr/>
        </p:nvSpPr>
        <p:spPr>
          <a:xfrm>
            <a:off x="6163056" y="3236976"/>
            <a:ext cx="2596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950"/>
              <a:buFont typeface="Noto Sans KR"/>
              <a:buNone/>
            </a:pPr>
            <a:r>
              <a:rPr b="1" i="0" lang="en-US" sz="9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주석 / 메모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6163056" y="3511296"/>
            <a:ext cx="2596896" cy="13716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"/>
          <p:cNvSpPr/>
          <p:nvPr/>
        </p:nvSpPr>
        <p:spPr>
          <a:xfrm>
            <a:off x="6163056" y="3547872"/>
            <a:ext cx="259689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</a:t>
            </a:r>
            <a:r>
              <a:rPr lang="en-US" sz="85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분석 선택 드롭다운 구성</a:t>
            </a:r>
            <a:endParaRPr sz="85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lang="en-US" sz="8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  </a:t>
            </a:r>
            <a:r>
              <a:rPr lang="en-US" sz="8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</a:t>
            </a:r>
            <a:r>
              <a:rPr lang="en-US" sz="8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빠른 분석: 정면 얼굴 사진 1장 업로드</a:t>
            </a:r>
            <a:endParaRPr sz="8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lang="en-US" sz="8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  </a:t>
            </a:r>
            <a:r>
              <a:rPr lang="en-US" sz="8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</a:t>
            </a:r>
            <a:r>
              <a:rPr lang="en-US" sz="8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정밀 분석: 정면, 좌측, 우측 얼굴 사진 총 3장 업로드</a:t>
            </a:r>
            <a:endParaRPr sz="8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lang="en-US" sz="8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  </a:t>
            </a:r>
            <a:r>
              <a:rPr lang="en-US" sz="8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</a:t>
            </a:r>
            <a:r>
              <a:rPr lang="en-US" sz="8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성분 분석: 화장품 성분 사진 1장 업로드</a:t>
            </a:r>
            <a:endParaRPr sz="8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lang="en-US" sz="8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  </a:t>
            </a:r>
            <a:r>
              <a:rPr lang="en-US" sz="8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</a:t>
            </a:r>
            <a:r>
              <a:rPr lang="en-US" sz="8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퍼스널 컬러 분석:</a:t>
            </a:r>
            <a:r>
              <a:rPr lang="en-US" sz="8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8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정면 얼굴 사진 1장 업로드 또는 카메라를 이용한 실시간 얼굴 인식</a:t>
            </a:r>
            <a:endParaRPr sz="95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lang="en-US" sz="85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</a:t>
            </a:r>
            <a:r>
              <a:rPr lang="en-US" sz="85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사용자가 각 분석 유형에 맞는 올바른 사진 촬영 법을 쉽게 이해할 수 있도록 촬영 가이드 일러스트를 화면에 함께 제공</a:t>
            </a:r>
            <a:endParaRPr sz="85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274320" y="4956048"/>
            <a:ext cx="85953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lang="en-US" sz="750">
                <a:solidFill>
                  <a:srgbClr val="9E9E9E"/>
                </a:solidFill>
                <a:latin typeface="Noto Sans"/>
                <a:ea typeface="Noto Sans"/>
                <a:cs typeface="Noto Sans"/>
                <a:sym typeface="Noto Sans"/>
              </a:rPr>
              <a:t>On You 화면 설계서  |  © 2026 ONYOU. All rights reserved.</a:t>
            </a:r>
            <a:endParaRPr sz="750">
              <a:solidFill>
                <a:srgbClr val="9E9E9E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5888736" y="256032"/>
            <a:ext cx="155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i="1" lang="en-US" sz="750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홈</a:t>
            </a:r>
            <a:endParaRPr i="0" sz="7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0" y="0"/>
            <a:ext cx="54864" cy="566928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201168" y="100584"/>
            <a:ext cx="1234440" cy="347472"/>
          </a:xfrm>
          <a:prstGeom prst="roundRect">
            <a:avLst>
              <a:gd fmla="val 18421" name="adj"/>
            </a:avLst>
          </a:prstGeom>
          <a:solidFill>
            <a:srgbClr val="D4EDB8"/>
          </a:solidFill>
          <a:ln cap="flat" cmpd="sng" w="12700">
            <a:solidFill>
              <a:srgbClr val="D4E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201168" y="100584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850"/>
              <a:buFont typeface="Noto Sans KR"/>
              <a:buNone/>
            </a:pPr>
            <a:r>
              <a:rPr b="1" i="0" lang="en-US" sz="8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01 채팅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1554480" y="91440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Noto Sans KR"/>
              <a:buNone/>
            </a:pPr>
            <a:r>
              <a:rPr b="1" i="0" lang="en-US" sz="1400" u="none" cap="none" strike="noStrike">
                <a:solidFill>
                  <a:srgbClr val="1E1E1E"/>
                </a:solidFill>
                <a:latin typeface="Noto Sans KR"/>
                <a:ea typeface="Noto Sans KR"/>
                <a:cs typeface="Noto Sans KR"/>
                <a:sym typeface="Noto Sans KR"/>
              </a:rPr>
              <a:t>1-4    채팅 – 제품 추천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5833872" y="91440"/>
            <a:ext cx="13716" cy="38404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5870448" y="73152"/>
            <a:ext cx="6583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00"/>
              <a:buFont typeface="Noto Sans KR"/>
              <a:buNone/>
            </a:pPr>
            <a:r>
              <a:rPr b="1" i="0" lang="en-US" sz="70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화면경로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5870448" y="256032"/>
            <a:ext cx="1572768" cy="219456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7498080" y="91440"/>
            <a:ext cx="13716" cy="38404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7534656" y="7315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00"/>
              <a:buFont typeface="Noto Sans KR"/>
              <a:buNone/>
            </a:pPr>
            <a:r>
              <a:rPr b="1" i="0" lang="en-US" sz="70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요구사항 ID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7534656" y="256032"/>
            <a:ext cx="1481328" cy="219456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7552944" y="256032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i="1" lang="en-US" sz="750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PROD</a:t>
            </a:r>
            <a:r>
              <a:rPr i="1" lang="en-US" sz="750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 i="1" sz="750">
              <a:solidFill>
                <a:srgbClr val="9E9E9E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0" y="566928"/>
            <a:ext cx="9144000" cy="1828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256032" y="685800"/>
            <a:ext cx="5532120" cy="4160520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2" name="Google Shape;21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032" y="1356752"/>
            <a:ext cx="5532120" cy="281861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7"/>
          <p:cNvSpPr/>
          <p:nvPr/>
        </p:nvSpPr>
        <p:spPr>
          <a:xfrm>
            <a:off x="6035040" y="685800"/>
            <a:ext cx="2852928" cy="402336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6035040" y="685800"/>
            <a:ext cx="28529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화면번호  1-4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6035040" y="1152144"/>
            <a:ext cx="2852928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6035040" y="1152144"/>
            <a:ext cx="2852928" cy="45720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6163056" y="1243584"/>
            <a:ext cx="2596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950"/>
              <a:buFont typeface="Noto Sans KR"/>
              <a:buNone/>
            </a:pPr>
            <a:r>
              <a:rPr b="1" i="0" lang="en-US" sz="9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화면 설명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6163056" y="1517904"/>
            <a:ext cx="2596896" cy="13716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7"/>
          <p:cNvSpPr/>
          <p:nvPr/>
        </p:nvSpPr>
        <p:spPr>
          <a:xfrm>
            <a:off x="6163056" y="1554480"/>
            <a:ext cx="2596896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사용자의 피부 타입과 입력한 고민을 바탕으로, AI가 적합한 스킨케어 제품을 추천해주는 화면입니다.</a:t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추천된 각 제품에는 추천 이유가 함께 제공되며, 올리브영 구매 페이지로 바로 이동할 수 있는 링크와 위시리스트에 저장할 수 있는 기능을 함께 제공합니다.</a:t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t/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6035040" y="3145536"/>
            <a:ext cx="2852928" cy="17007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6035040" y="3145536"/>
            <a:ext cx="2852928" cy="45720"/>
          </a:xfrm>
          <a:prstGeom prst="rect">
            <a:avLst/>
          </a:prstGeom>
          <a:solidFill>
            <a:srgbClr val="D4EDB8"/>
          </a:solidFill>
          <a:ln cap="flat" cmpd="sng" w="12700">
            <a:solidFill>
              <a:srgbClr val="D4E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7"/>
          <p:cNvSpPr/>
          <p:nvPr/>
        </p:nvSpPr>
        <p:spPr>
          <a:xfrm>
            <a:off x="6163056" y="3236976"/>
            <a:ext cx="2596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950"/>
              <a:buFont typeface="Noto Sans KR"/>
              <a:buNone/>
            </a:pPr>
            <a:r>
              <a:rPr b="1" i="0" lang="en-US" sz="9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주석 / 메모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6163056" y="3511296"/>
            <a:ext cx="2596896" cy="13716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"/>
          <p:cNvSpPr/>
          <p:nvPr/>
        </p:nvSpPr>
        <p:spPr>
          <a:xfrm>
            <a:off x="6163056" y="3547872"/>
            <a:ext cx="259689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제품 카드(이름·특징·추천이유)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올리브영 구매 링크 버튼(외부 링크)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위시리스트 하트 아이콘(♡) 저장 가능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274320" y="4956048"/>
            <a:ext cx="85953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lang="en-US" sz="750">
                <a:solidFill>
                  <a:srgbClr val="9E9E9E"/>
                </a:solidFill>
                <a:latin typeface="Noto Sans"/>
                <a:ea typeface="Noto Sans"/>
                <a:cs typeface="Noto Sans"/>
                <a:sym typeface="Noto Sans"/>
              </a:rPr>
              <a:t>On You 화면 설계서  |  © 2026 ONYOU. All rights reserved.</a:t>
            </a:r>
            <a:endParaRPr sz="750">
              <a:solidFill>
                <a:srgbClr val="9E9E9E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5888736" y="256032"/>
            <a:ext cx="155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i="1" lang="en-US" sz="750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홈</a:t>
            </a:r>
            <a:endParaRPr i="0" sz="7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8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"/>
          <p:cNvSpPr/>
          <p:nvPr/>
        </p:nvSpPr>
        <p:spPr>
          <a:xfrm>
            <a:off x="0" y="0"/>
            <a:ext cx="54864" cy="566928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"/>
          <p:cNvSpPr/>
          <p:nvPr/>
        </p:nvSpPr>
        <p:spPr>
          <a:xfrm>
            <a:off x="201168" y="100584"/>
            <a:ext cx="1234440" cy="347472"/>
          </a:xfrm>
          <a:prstGeom prst="roundRect">
            <a:avLst>
              <a:gd fmla="val 18421" name="adj"/>
            </a:avLst>
          </a:prstGeom>
          <a:solidFill>
            <a:srgbClr val="D4EDB8"/>
          </a:solidFill>
          <a:ln cap="flat" cmpd="sng" w="12700">
            <a:solidFill>
              <a:srgbClr val="D4E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"/>
          <p:cNvSpPr/>
          <p:nvPr/>
        </p:nvSpPr>
        <p:spPr>
          <a:xfrm>
            <a:off x="201168" y="100584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850"/>
              <a:buFont typeface="Noto Sans KR"/>
              <a:buNone/>
            </a:pPr>
            <a:r>
              <a:rPr b="1" i="0" lang="en-US" sz="8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01 채팅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1554480" y="91440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Noto Sans KR"/>
              <a:buNone/>
            </a:pPr>
            <a:r>
              <a:rPr b="1" i="0" lang="en-US" sz="1400" u="none" cap="none" strike="noStrike">
                <a:solidFill>
                  <a:srgbClr val="1E1E1E"/>
                </a:solidFill>
                <a:latin typeface="Noto Sans KR"/>
                <a:ea typeface="Noto Sans KR"/>
                <a:cs typeface="Noto Sans KR"/>
                <a:sym typeface="Noto Sans KR"/>
              </a:rPr>
              <a:t>1-5    채팅 – 분석 결과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5833872" y="91440"/>
            <a:ext cx="13716" cy="38404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8"/>
          <p:cNvSpPr/>
          <p:nvPr/>
        </p:nvSpPr>
        <p:spPr>
          <a:xfrm>
            <a:off x="5870448" y="73152"/>
            <a:ext cx="6583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00"/>
              <a:buFont typeface="Noto Sans KR"/>
              <a:buNone/>
            </a:pPr>
            <a:r>
              <a:rPr b="1" i="0" lang="en-US" sz="70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화면경로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5870448" y="256032"/>
            <a:ext cx="1572768" cy="219456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8"/>
          <p:cNvSpPr/>
          <p:nvPr/>
        </p:nvSpPr>
        <p:spPr>
          <a:xfrm>
            <a:off x="7498080" y="91440"/>
            <a:ext cx="13716" cy="38404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8"/>
          <p:cNvSpPr/>
          <p:nvPr/>
        </p:nvSpPr>
        <p:spPr>
          <a:xfrm>
            <a:off x="7534656" y="7315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00"/>
              <a:buFont typeface="Noto Sans KR"/>
              <a:buNone/>
            </a:pPr>
            <a:r>
              <a:rPr b="1" i="0" lang="en-US" sz="70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요구사항 ID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7534656" y="256032"/>
            <a:ext cx="1481328" cy="219456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8"/>
          <p:cNvSpPr/>
          <p:nvPr/>
        </p:nvSpPr>
        <p:spPr>
          <a:xfrm>
            <a:off x="7552944" y="256032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i="1" lang="en-US" sz="750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ANLY S</a:t>
            </a:r>
            <a:r>
              <a:rPr i="1" lang="en-US" sz="750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01, INGRD01</a:t>
            </a:r>
            <a:endParaRPr i="1" sz="750">
              <a:solidFill>
                <a:srgbClr val="9E9E9E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0" y="566928"/>
            <a:ext cx="9144000" cy="1828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8"/>
          <p:cNvSpPr/>
          <p:nvPr/>
        </p:nvSpPr>
        <p:spPr>
          <a:xfrm>
            <a:off x="256032" y="685800"/>
            <a:ext cx="5532120" cy="4160520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7" name="Google Shape;24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2086" y="685800"/>
            <a:ext cx="3940012" cy="416052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8"/>
          <p:cNvSpPr/>
          <p:nvPr/>
        </p:nvSpPr>
        <p:spPr>
          <a:xfrm>
            <a:off x="6035040" y="685800"/>
            <a:ext cx="2852928" cy="402336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"/>
          <p:cNvSpPr/>
          <p:nvPr/>
        </p:nvSpPr>
        <p:spPr>
          <a:xfrm>
            <a:off x="6035040" y="685800"/>
            <a:ext cx="28529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화면번호  1-5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6035040" y="1152144"/>
            <a:ext cx="2852928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"/>
          <p:cNvSpPr/>
          <p:nvPr/>
        </p:nvSpPr>
        <p:spPr>
          <a:xfrm>
            <a:off x="6035040" y="1152144"/>
            <a:ext cx="2852928" cy="45720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8"/>
          <p:cNvSpPr/>
          <p:nvPr/>
        </p:nvSpPr>
        <p:spPr>
          <a:xfrm>
            <a:off x="6163056" y="1243584"/>
            <a:ext cx="2596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950"/>
              <a:buFont typeface="Noto Sans KR"/>
              <a:buNone/>
            </a:pPr>
            <a:r>
              <a:rPr b="1" i="0" lang="en-US" sz="9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화면 설명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6163056" y="1517904"/>
            <a:ext cx="2596896" cy="13716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"/>
          <p:cNvSpPr/>
          <p:nvPr/>
        </p:nvSpPr>
        <p:spPr>
          <a:xfrm>
            <a:off x="6163056" y="1554480"/>
            <a:ext cx="2596896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사용자의 입력 이미지와 선택한 분석 유형에 따라,</a:t>
            </a:r>
            <a:b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 AI가 피부 상태를 분석한 결과를 채팅 형태로 제공하는 화면입니다.</a:t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분석 결과는 부위별 피부 상태, 피부 타입, 주요 문제점 및 개선 우선순위, 맞춤 관리 방법 등을 텍스트로 상세하게 안내합니다.</a:t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t/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6035040" y="3145536"/>
            <a:ext cx="2852928" cy="17007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8"/>
          <p:cNvSpPr/>
          <p:nvPr/>
        </p:nvSpPr>
        <p:spPr>
          <a:xfrm>
            <a:off x="6035040" y="3145536"/>
            <a:ext cx="2852928" cy="45720"/>
          </a:xfrm>
          <a:prstGeom prst="rect">
            <a:avLst/>
          </a:prstGeom>
          <a:solidFill>
            <a:srgbClr val="D4EDB8"/>
          </a:solidFill>
          <a:ln cap="flat" cmpd="sng" w="12700">
            <a:solidFill>
              <a:srgbClr val="D4E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8"/>
          <p:cNvSpPr/>
          <p:nvPr/>
        </p:nvSpPr>
        <p:spPr>
          <a:xfrm>
            <a:off x="6163056" y="3236976"/>
            <a:ext cx="2596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950"/>
              <a:buFont typeface="Noto Sans KR"/>
              <a:buNone/>
            </a:pPr>
            <a:r>
              <a:rPr b="1" i="0" lang="en-US" sz="9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주석 / 메모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6163056" y="3511296"/>
            <a:ext cx="2596896" cy="13716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"/>
          <p:cNvSpPr/>
          <p:nvPr/>
        </p:nvSpPr>
        <p:spPr>
          <a:xfrm>
            <a:off x="6163056" y="3547872"/>
            <a:ext cx="259689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</a:t>
            </a: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사용자가 업로드한 분석 이미지 썸네일 표시</a:t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</a:t>
            </a: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부위별 피부 수치 및 상태 판단 근거 제공</a:t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분석 유형별(빠른/정밀/성분) 결과 포맷 상이</a:t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t/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"/>
          <p:cNvSpPr/>
          <p:nvPr/>
        </p:nvSpPr>
        <p:spPr>
          <a:xfrm>
            <a:off x="274320" y="4956048"/>
            <a:ext cx="85953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lang="en-US" sz="750">
                <a:solidFill>
                  <a:srgbClr val="9E9E9E"/>
                </a:solidFill>
                <a:latin typeface="Noto Sans"/>
                <a:ea typeface="Noto Sans"/>
                <a:cs typeface="Noto Sans"/>
                <a:sym typeface="Noto Sans"/>
              </a:rPr>
              <a:t>On You 화면 설계서  |  © 2026 ONYOU. All rights reserved.</a:t>
            </a:r>
            <a:endParaRPr sz="750">
              <a:solidFill>
                <a:srgbClr val="9E9E9E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5888736" y="256032"/>
            <a:ext cx="155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i="1" lang="en-US" sz="750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홈</a:t>
            </a:r>
            <a:endParaRPr i="0" sz="7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9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9"/>
          <p:cNvSpPr/>
          <p:nvPr/>
        </p:nvSpPr>
        <p:spPr>
          <a:xfrm>
            <a:off x="0" y="0"/>
            <a:ext cx="54864" cy="566928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9"/>
          <p:cNvSpPr/>
          <p:nvPr/>
        </p:nvSpPr>
        <p:spPr>
          <a:xfrm>
            <a:off x="201168" y="100584"/>
            <a:ext cx="1234440" cy="347472"/>
          </a:xfrm>
          <a:prstGeom prst="roundRect">
            <a:avLst>
              <a:gd fmla="val 18421" name="adj"/>
            </a:avLst>
          </a:prstGeom>
          <a:solidFill>
            <a:srgbClr val="D4EDB8"/>
          </a:solidFill>
          <a:ln cap="flat" cmpd="sng" w="12700">
            <a:solidFill>
              <a:srgbClr val="D4E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9"/>
          <p:cNvSpPr/>
          <p:nvPr/>
        </p:nvSpPr>
        <p:spPr>
          <a:xfrm>
            <a:off x="201168" y="100584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850"/>
              <a:buFont typeface="Noto Sans KR"/>
              <a:buNone/>
            </a:pPr>
            <a:r>
              <a:rPr b="1" i="0" lang="en-US" sz="8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01 채팅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1554480" y="91440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Noto Sans KR"/>
              <a:buNone/>
            </a:pPr>
            <a:r>
              <a:rPr b="1" i="0" lang="en-US" sz="1400" u="none" cap="none" strike="noStrike">
                <a:solidFill>
                  <a:srgbClr val="1E1E1E"/>
                </a:solidFill>
                <a:latin typeface="Noto Sans KR"/>
                <a:ea typeface="Noto Sans KR"/>
                <a:cs typeface="Noto Sans KR"/>
                <a:sym typeface="Noto Sans KR"/>
              </a:rPr>
              <a:t>1-6    채팅 – 퍼스널 컬러 분석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5833872" y="91440"/>
            <a:ext cx="13716" cy="38404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9"/>
          <p:cNvSpPr/>
          <p:nvPr/>
        </p:nvSpPr>
        <p:spPr>
          <a:xfrm>
            <a:off x="5870448" y="73152"/>
            <a:ext cx="6583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00"/>
              <a:buFont typeface="Noto Sans KR"/>
              <a:buNone/>
            </a:pPr>
            <a:r>
              <a:rPr b="1" i="0" lang="en-US" sz="70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화면경로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5870448" y="256032"/>
            <a:ext cx="1572768" cy="219456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9"/>
          <p:cNvSpPr/>
          <p:nvPr/>
        </p:nvSpPr>
        <p:spPr>
          <a:xfrm>
            <a:off x="7498080" y="91440"/>
            <a:ext cx="13716" cy="38404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9"/>
          <p:cNvSpPr/>
          <p:nvPr/>
        </p:nvSpPr>
        <p:spPr>
          <a:xfrm>
            <a:off x="7534656" y="7315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00"/>
              <a:buFont typeface="Noto Sans KR"/>
              <a:buNone/>
            </a:pPr>
            <a:r>
              <a:rPr b="1" i="0" lang="en-US" sz="70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요구사항 ID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7534656" y="256032"/>
            <a:ext cx="1481328" cy="219456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9"/>
          <p:cNvSpPr/>
          <p:nvPr/>
        </p:nvSpPr>
        <p:spPr>
          <a:xfrm>
            <a:off x="7552944" y="256032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i="1" lang="en-US" sz="750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PC</a:t>
            </a:r>
            <a:r>
              <a:rPr i="1" lang="en-US" sz="750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 i="1" sz="750">
              <a:solidFill>
                <a:srgbClr val="9E9E9E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0" y="566928"/>
            <a:ext cx="9144000" cy="1828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9"/>
          <p:cNvSpPr/>
          <p:nvPr/>
        </p:nvSpPr>
        <p:spPr>
          <a:xfrm>
            <a:off x="256032" y="685800"/>
            <a:ext cx="5532120" cy="4160520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9"/>
          <p:cNvSpPr/>
          <p:nvPr/>
        </p:nvSpPr>
        <p:spPr>
          <a:xfrm>
            <a:off x="6035040" y="685800"/>
            <a:ext cx="2852928" cy="402336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9"/>
          <p:cNvSpPr/>
          <p:nvPr/>
        </p:nvSpPr>
        <p:spPr>
          <a:xfrm>
            <a:off x="6035040" y="685800"/>
            <a:ext cx="28529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화면번호  1-6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6035040" y="1152144"/>
            <a:ext cx="2852928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9"/>
          <p:cNvSpPr/>
          <p:nvPr/>
        </p:nvSpPr>
        <p:spPr>
          <a:xfrm>
            <a:off x="6035040" y="1152144"/>
            <a:ext cx="2852928" cy="45720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9"/>
          <p:cNvSpPr/>
          <p:nvPr/>
        </p:nvSpPr>
        <p:spPr>
          <a:xfrm>
            <a:off x="6163056" y="1243584"/>
            <a:ext cx="2596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950"/>
              <a:buFont typeface="Noto Sans KR"/>
              <a:buNone/>
            </a:pPr>
            <a:r>
              <a:rPr b="1" i="0" lang="en-US" sz="9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화면 설명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6163056" y="1517904"/>
            <a:ext cx="2596896" cy="13716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9"/>
          <p:cNvSpPr/>
          <p:nvPr/>
        </p:nvSpPr>
        <p:spPr>
          <a:xfrm>
            <a:off x="6163056" y="1554480"/>
            <a:ext cx="2596896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사용자가 업로드한 이미지를 기반으로 퍼스널 컬러를 분석하고, 도출된 유형에 맞는 추천 컬러 팔레트와 함께</a:t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피해야 할 컬러 및 베스트 뉴트럴 컬러를 종합적으로 안내하는 화면입니다.</a:t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6035040" y="3145536"/>
            <a:ext cx="2852928" cy="17007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9"/>
          <p:cNvSpPr/>
          <p:nvPr/>
        </p:nvSpPr>
        <p:spPr>
          <a:xfrm>
            <a:off x="6035040" y="3145536"/>
            <a:ext cx="2852928" cy="45720"/>
          </a:xfrm>
          <a:prstGeom prst="rect">
            <a:avLst/>
          </a:prstGeom>
          <a:solidFill>
            <a:srgbClr val="D4EDB8"/>
          </a:solidFill>
          <a:ln cap="flat" cmpd="sng" w="12700">
            <a:solidFill>
              <a:srgbClr val="D4E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9"/>
          <p:cNvSpPr/>
          <p:nvPr/>
        </p:nvSpPr>
        <p:spPr>
          <a:xfrm>
            <a:off x="6163056" y="3236976"/>
            <a:ext cx="2596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950"/>
              <a:buFont typeface="Noto Sans KR"/>
              <a:buNone/>
            </a:pPr>
            <a:r>
              <a:rPr b="1" i="0" lang="en-US" sz="9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주석 / 메모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6163056" y="3511296"/>
            <a:ext cx="2596896" cy="13716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9"/>
          <p:cNvSpPr/>
          <p:nvPr/>
        </p:nvSpPr>
        <p:spPr>
          <a:xfrm>
            <a:off x="6163056" y="3547872"/>
            <a:ext cx="259689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컬러 칩 시각화(추천·피해야할)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메이크업(립·블러셔·아이) 세부 추천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헤어 컬러 추천 포함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우측 상단 분석 요청 뱃지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9"/>
          <p:cNvSpPr/>
          <p:nvPr/>
        </p:nvSpPr>
        <p:spPr>
          <a:xfrm>
            <a:off x="274320" y="4956048"/>
            <a:ext cx="85953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lang="en-US" sz="750">
                <a:solidFill>
                  <a:srgbClr val="9E9E9E"/>
                </a:solidFill>
                <a:latin typeface="Noto Sans"/>
                <a:ea typeface="Noto Sans"/>
                <a:cs typeface="Noto Sans"/>
                <a:sym typeface="Noto Sans"/>
              </a:rPr>
              <a:t>On You 화면 설계서  |  © 2026 ONYOU. All rights reserved.</a:t>
            </a:r>
            <a:endParaRPr sz="750">
              <a:solidFill>
                <a:srgbClr val="9E9E9E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5888736" y="256032"/>
            <a:ext cx="155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i="1" lang="en-US" sz="750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홈</a:t>
            </a:r>
            <a:endParaRPr i="0" sz="7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97" name="Google Shape;297;p9" title="1-6 채팅-퍼스널컬러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200" y="700225"/>
            <a:ext cx="5467786" cy="4140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0"/>
          <p:cNvSpPr/>
          <p:nvPr/>
        </p:nvSpPr>
        <p:spPr>
          <a:xfrm>
            <a:off x="-731520" y="2926080"/>
            <a:ext cx="2743200" cy="2743200"/>
          </a:xfrm>
          <a:prstGeom prst="ellipse">
            <a:avLst/>
          </a:prstGeom>
          <a:solidFill>
            <a:srgbClr val="5A8A28">
              <a:alpha val="30196"/>
            </a:srgbClr>
          </a:solidFill>
          <a:ln cap="flat" cmpd="sng" w="12700">
            <a:solidFill>
              <a:srgbClr val="5A8A28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0"/>
          <p:cNvSpPr/>
          <p:nvPr/>
        </p:nvSpPr>
        <p:spPr>
          <a:xfrm>
            <a:off x="137160" y="457200"/>
            <a:ext cx="32004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0"/>
              <a:buFont typeface="Noto Sans KR"/>
              <a:buNone/>
            </a:pPr>
            <a:r>
              <a:rPr b="1" i="0" lang="en-US" sz="100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 b="0" i="0" sz="10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3840480" y="1371600"/>
            <a:ext cx="5029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3600"/>
              <a:buFont typeface="Noto Sans KR"/>
              <a:buNone/>
            </a:pPr>
            <a:r>
              <a:rPr b="1" i="0" lang="en-US" sz="3600" u="none" cap="none" strike="noStrike">
                <a:solidFill>
                  <a:srgbClr val="1E1E1E"/>
                </a:solidFill>
                <a:latin typeface="Noto Sans KR"/>
                <a:ea typeface="Noto Sans KR"/>
                <a:cs typeface="Noto Sans KR"/>
                <a:sym typeface="Noto Sans KR"/>
              </a:rPr>
              <a:t>피부 분석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3840480" y="2423160"/>
            <a:ext cx="1097280" cy="54864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0"/>
          <p:cNvSpPr/>
          <p:nvPr/>
        </p:nvSpPr>
        <p:spPr>
          <a:xfrm>
            <a:off x="3840480" y="260604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AI 기반 피부 상태 종합 분석 대시보드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0"/>
          <p:cNvSpPr/>
          <p:nvPr/>
        </p:nvSpPr>
        <p:spPr>
          <a:xfrm>
            <a:off x="365760" y="4919472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lang="en-US" sz="750">
                <a:solidFill>
                  <a:srgbClr val="9E9E9E"/>
                </a:solidFill>
                <a:latin typeface="Noto Sans"/>
                <a:ea typeface="Noto Sans"/>
                <a:cs typeface="Noto Sans"/>
                <a:sym typeface="Noto Sans"/>
              </a:rPr>
              <a:t>On You 화면 설계서  |  © 2026 ONYOU.</a:t>
            </a:r>
            <a:endParaRPr sz="800">
              <a:solidFill>
                <a:srgbClr val="9E9E9E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1"/>
          <p:cNvSpPr/>
          <p:nvPr/>
        </p:nvSpPr>
        <p:spPr>
          <a:xfrm>
            <a:off x="0" y="0"/>
            <a:ext cx="54864" cy="566928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1"/>
          <p:cNvSpPr/>
          <p:nvPr/>
        </p:nvSpPr>
        <p:spPr>
          <a:xfrm>
            <a:off x="201168" y="100584"/>
            <a:ext cx="1234440" cy="347472"/>
          </a:xfrm>
          <a:prstGeom prst="roundRect">
            <a:avLst>
              <a:gd fmla="val 18421" name="adj"/>
            </a:avLst>
          </a:prstGeom>
          <a:solidFill>
            <a:srgbClr val="D4EDB8"/>
          </a:solidFill>
          <a:ln cap="flat" cmpd="sng" w="12700">
            <a:solidFill>
              <a:srgbClr val="D4E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1"/>
          <p:cNvSpPr/>
          <p:nvPr/>
        </p:nvSpPr>
        <p:spPr>
          <a:xfrm>
            <a:off x="201168" y="100584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850"/>
              <a:buFont typeface="Noto Sans KR"/>
              <a:buNone/>
            </a:pPr>
            <a:r>
              <a:rPr b="1" i="0" lang="en-US" sz="8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02 피부분석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1554480" y="91440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Noto Sans KR"/>
              <a:buNone/>
            </a:pPr>
            <a:r>
              <a:rPr b="1" i="0" lang="en-US" sz="1400" u="none" cap="none" strike="noStrike">
                <a:solidFill>
                  <a:srgbClr val="1E1E1E"/>
                </a:solidFill>
                <a:latin typeface="Noto Sans KR"/>
                <a:ea typeface="Noto Sans KR"/>
                <a:cs typeface="Noto Sans KR"/>
                <a:sym typeface="Noto Sans KR"/>
              </a:rPr>
              <a:t>2-1    피부 분석 – 종합 분석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5833872" y="91440"/>
            <a:ext cx="13716" cy="38404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1"/>
          <p:cNvSpPr/>
          <p:nvPr/>
        </p:nvSpPr>
        <p:spPr>
          <a:xfrm>
            <a:off x="5870448" y="73152"/>
            <a:ext cx="6583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00"/>
              <a:buFont typeface="Noto Sans KR"/>
              <a:buNone/>
            </a:pPr>
            <a:r>
              <a:rPr b="1" i="0" lang="en-US" sz="70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화면경로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5870448" y="256032"/>
            <a:ext cx="1572768" cy="219456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1"/>
          <p:cNvSpPr/>
          <p:nvPr/>
        </p:nvSpPr>
        <p:spPr>
          <a:xfrm>
            <a:off x="5888736" y="256032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i="1" lang="en-US" sz="750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홈 &gt; 피부 분석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7498080" y="91440"/>
            <a:ext cx="13716" cy="38404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1"/>
          <p:cNvSpPr/>
          <p:nvPr/>
        </p:nvSpPr>
        <p:spPr>
          <a:xfrm>
            <a:off x="7534656" y="7315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00"/>
              <a:buFont typeface="Noto Sans KR"/>
              <a:buNone/>
            </a:pPr>
            <a:r>
              <a:rPr b="1" i="0" lang="en-US" sz="70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요구사항 ID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7534656" y="256032"/>
            <a:ext cx="1481328" cy="219456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1"/>
          <p:cNvSpPr/>
          <p:nvPr/>
        </p:nvSpPr>
        <p:spPr>
          <a:xfrm>
            <a:off x="7552944" y="256032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i="1" lang="en-US" sz="750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ANLY S01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0" y="566928"/>
            <a:ext cx="9144000" cy="1828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1"/>
          <p:cNvSpPr/>
          <p:nvPr/>
        </p:nvSpPr>
        <p:spPr>
          <a:xfrm>
            <a:off x="256032" y="685800"/>
            <a:ext cx="5532120" cy="4160520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1" name="Google Shape;331;p11" title="2-1 피부분석-종합분석.png"/>
          <p:cNvPicPr preferRelativeResize="0"/>
          <p:nvPr/>
        </p:nvPicPr>
        <p:blipFill rotWithShape="1">
          <a:blip r:embed="rId3">
            <a:alphaModFix/>
          </a:blip>
          <a:srcRect b="0" l="0" r="10" t="0"/>
          <a:stretch/>
        </p:blipFill>
        <p:spPr>
          <a:xfrm>
            <a:off x="256032" y="860245"/>
            <a:ext cx="5532119" cy="381163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11"/>
          <p:cNvSpPr/>
          <p:nvPr/>
        </p:nvSpPr>
        <p:spPr>
          <a:xfrm>
            <a:off x="6035040" y="685800"/>
            <a:ext cx="2852928" cy="402336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1"/>
          <p:cNvSpPr/>
          <p:nvPr/>
        </p:nvSpPr>
        <p:spPr>
          <a:xfrm>
            <a:off x="6035040" y="685800"/>
            <a:ext cx="28529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화면번호  2-1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6035040" y="1152144"/>
            <a:ext cx="2852928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1"/>
          <p:cNvSpPr/>
          <p:nvPr/>
        </p:nvSpPr>
        <p:spPr>
          <a:xfrm>
            <a:off x="6035040" y="1152144"/>
            <a:ext cx="2852928" cy="45720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1"/>
          <p:cNvSpPr/>
          <p:nvPr/>
        </p:nvSpPr>
        <p:spPr>
          <a:xfrm>
            <a:off x="6163056" y="1243584"/>
            <a:ext cx="2596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950"/>
              <a:buFont typeface="Noto Sans KR"/>
              <a:buNone/>
            </a:pPr>
            <a:r>
              <a:rPr b="1" i="0" lang="en-US" sz="9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화면 설명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6163056" y="1517904"/>
            <a:ext cx="2596896" cy="13716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1"/>
          <p:cNvSpPr/>
          <p:nvPr/>
        </p:nvSpPr>
        <p:spPr>
          <a:xfrm>
            <a:off x="6163056" y="1554480"/>
            <a:ext cx="2596896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AI가 분석한 피부 상태를 종합 점수와 세부 지표로 시각화하여 제공하는 페이지입니다.</a:t>
            </a:r>
            <a:endParaRPr sz="85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5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종합 점수는 원형 게이지로, 각 지표(수분, 탄력, 주름, 모공, 색소침착)는 바 차트로 확인할 수 있으며, 레이더 차트를 통해 전체적인 피부 상태의 균형을 파악할 수 있습니다.</a:t>
            </a:r>
            <a:endParaRPr sz="85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5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분석 이미지는 우측에 함께 표시되며, 날짜 선택을 통해 시점별 데이터 조회가 가능하고, 카카오톡 공유 기능을 통해 분석 결과를 외부로 공유할 수 있습니다.</a:t>
            </a:r>
            <a:endParaRPr sz="85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t/>
            </a:r>
            <a:endParaRPr sz="85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6035040" y="3145536"/>
            <a:ext cx="2852928" cy="17007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1"/>
          <p:cNvSpPr/>
          <p:nvPr/>
        </p:nvSpPr>
        <p:spPr>
          <a:xfrm>
            <a:off x="6035040" y="3145536"/>
            <a:ext cx="2852928" cy="45720"/>
          </a:xfrm>
          <a:prstGeom prst="rect">
            <a:avLst/>
          </a:prstGeom>
          <a:solidFill>
            <a:srgbClr val="D4EDB8"/>
          </a:solidFill>
          <a:ln cap="flat" cmpd="sng" w="12700">
            <a:solidFill>
              <a:srgbClr val="D4E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1"/>
          <p:cNvSpPr/>
          <p:nvPr/>
        </p:nvSpPr>
        <p:spPr>
          <a:xfrm>
            <a:off x="6163056" y="3236976"/>
            <a:ext cx="2596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950"/>
              <a:buFont typeface="Noto Sans KR"/>
              <a:buNone/>
            </a:pPr>
            <a:r>
              <a:rPr b="1" i="0" lang="en-US" sz="9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주석 / 메모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1"/>
          <p:cNvSpPr/>
          <p:nvPr/>
        </p:nvSpPr>
        <p:spPr>
          <a:xfrm>
            <a:off x="6163056" y="3511296"/>
            <a:ext cx="2596896" cy="13716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1"/>
          <p:cNvSpPr/>
          <p:nvPr/>
        </p:nvSpPr>
        <p:spPr>
          <a:xfrm>
            <a:off x="6163056" y="3547872"/>
            <a:ext cx="259689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</a:t>
            </a: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종합 피부 점수 원형 게이지 형태 시각화 및 상태 메시지 표시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</a:t>
            </a: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지표별 바 차트로 세부 수치 제공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</a:t>
            </a: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레이더 차트로 피부 상태 균형 시각화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</a:t>
            </a: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날짜 선택 UI를 통한 시점별 분석 데이터 조회 및 갱신</a:t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카카오톡 공유 버튼을 통한 분석 결과 외부 공유 기능 제공</a:t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1"/>
          <p:cNvSpPr/>
          <p:nvPr/>
        </p:nvSpPr>
        <p:spPr>
          <a:xfrm>
            <a:off x="274320" y="4956048"/>
            <a:ext cx="85953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lang="en-US" sz="750">
                <a:solidFill>
                  <a:srgbClr val="9E9E9E"/>
                </a:solidFill>
                <a:latin typeface="Noto Sans"/>
                <a:ea typeface="Noto Sans"/>
                <a:cs typeface="Noto Sans"/>
                <a:sym typeface="Noto Sans"/>
              </a:rPr>
              <a:t>On You 화면 설계서  |  © 2026 ONYOU. All rights reserved.</a:t>
            </a:r>
            <a:endParaRPr sz="750">
              <a:solidFill>
                <a:srgbClr val="9E9E9E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2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2"/>
          <p:cNvSpPr/>
          <p:nvPr/>
        </p:nvSpPr>
        <p:spPr>
          <a:xfrm>
            <a:off x="0" y="0"/>
            <a:ext cx="54864" cy="566928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2"/>
          <p:cNvSpPr/>
          <p:nvPr/>
        </p:nvSpPr>
        <p:spPr>
          <a:xfrm>
            <a:off x="201168" y="100584"/>
            <a:ext cx="1234440" cy="347472"/>
          </a:xfrm>
          <a:prstGeom prst="roundRect">
            <a:avLst>
              <a:gd fmla="val 18421" name="adj"/>
            </a:avLst>
          </a:prstGeom>
          <a:solidFill>
            <a:srgbClr val="D4EDB8"/>
          </a:solidFill>
          <a:ln cap="flat" cmpd="sng" w="12700">
            <a:solidFill>
              <a:srgbClr val="D4E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2"/>
          <p:cNvSpPr/>
          <p:nvPr/>
        </p:nvSpPr>
        <p:spPr>
          <a:xfrm>
            <a:off x="201168" y="100584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850"/>
              <a:buFont typeface="Noto Sans KR"/>
              <a:buNone/>
            </a:pPr>
            <a:r>
              <a:rPr b="1" i="0" lang="en-US" sz="8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02 피부분석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1554480" y="91440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Noto Sans KR"/>
              <a:buNone/>
            </a:pPr>
            <a:r>
              <a:rPr b="1" i="0" lang="en-US" sz="1400" u="none" cap="none" strike="noStrike">
                <a:solidFill>
                  <a:srgbClr val="1E1E1E"/>
                </a:solidFill>
                <a:latin typeface="Noto Sans KR"/>
                <a:ea typeface="Noto Sans KR"/>
                <a:cs typeface="Noto Sans KR"/>
                <a:sym typeface="Noto Sans KR"/>
              </a:rPr>
              <a:t>2-2    피부 분석 – 비교 분석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5833872" y="91440"/>
            <a:ext cx="13716" cy="38404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2"/>
          <p:cNvSpPr/>
          <p:nvPr/>
        </p:nvSpPr>
        <p:spPr>
          <a:xfrm>
            <a:off x="5870448" y="73152"/>
            <a:ext cx="6583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00"/>
              <a:buFont typeface="Noto Sans KR"/>
              <a:buNone/>
            </a:pPr>
            <a:r>
              <a:rPr b="1" i="0" lang="en-US" sz="70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화면경로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2"/>
          <p:cNvSpPr/>
          <p:nvPr/>
        </p:nvSpPr>
        <p:spPr>
          <a:xfrm>
            <a:off x="5870448" y="256032"/>
            <a:ext cx="1572768" cy="219456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2"/>
          <p:cNvSpPr/>
          <p:nvPr/>
        </p:nvSpPr>
        <p:spPr>
          <a:xfrm>
            <a:off x="7498080" y="91440"/>
            <a:ext cx="13716" cy="38404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2"/>
          <p:cNvSpPr/>
          <p:nvPr/>
        </p:nvSpPr>
        <p:spPr>
          <a:xfrm>
            <a:off x="7534656" y="7315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00"/>
              <a:buFont typeface="Noto Sans KR"/>
              <a:buNone/>
            </a:pPr>
            <a:r>
              <a:rPr b="1" i="0" lang="en-US" sz="70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요구사항 ID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2"/>
          <p:cNvSpPr/>
          <p:nvPr/>
        </p:nvSpPr>
        <p:spPr>
          <a:xfrm>
            <a:off x="7534656" y="256032"/>
            <a:ext cx="1481328" cy="219456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2"/>
          <p:cNvSpPr/>
          <p:nvPr/>
        </p:nvSpPr>
        <p:spPr>
          <a:xfrm>
            <a:off x="0" y="566928"/>
            <a:ext cx="9144000" cy="1828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2"/>
          <p:cNvSpPr/>
          <p:nvPr/>
        </p:nvSpPr>
        <p:spPr>
          <a:xfrm>
            <a:off x="256032" y="685800"/>
            <a:ext cx="5532120" cy="4160520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4" name="Google Shape;364;p12" title="2-2 피부분석-비교분석.png"/>
          <p:cNvPicPr preferRelativeResize="0"/>
          <p:nvPr/>
        </p:nvPicPr>
        <p:blipFill rotWithShape="1">
          <a:blip r:embed="rId3">
            <a:alphaModFix/>
          </a:blip>
          <a:srcRect b="20" l="0" r="0" t="10"/>
          <a:stretch/>
        </p:blipFill>
        <p:spPr>
          <a:xfrm>
            <a:off x="256032" y="999931"/>
            <a:ext cx="5532119" cy="3532261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12"/>
          <p:cNvSpPr/>
          <p:nvPr/>
        </p:nvSpPr>
        <p:spPr>
          <a:xfrm>
            <a:off x="6035040" y="685800"/>
            <a:ext cx="2852928" cy="402336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2"/>
          <p:cNvSpPr/>
          <p:nvPr/>
        </p:nvSpPr>
        <p:spPr>
          <a:xfrm>
            <a:off x="6035040" y="685800"/>
            <a:ext cx="28529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화면번호  2-2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2"/>
          <p:cNvSpPr/>
          <p:nvPr/>
        </p:nvSpPr>
        <p:spPr>
          <a:xfrm>
            <a:off x="6035040" y="1152144"/>
            <a:ext cx="2852928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2"/>
          <p:cNvSpPr/>
          <p:nvPr/>
        </p:nvSpPr>
        <p:spPr>
          <a:xfrm>
            <a:off x="6035040" y="1152144"/>
            <a:ext cx="2852928" cy="45720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2"/>
          <p:cNvSpPr/>
          <p:nvPr/>
        </p:nvSpPr>
        <p:spPr>
          <a:xfrm>
            <a:off x="6163056" y="1243584"/>
            <a:ext cx="2596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950"/>
              <a:buFont typeface="Noto Sans KR"/>
              <a:buNone/>
            </a:pPr>
            <a:r>
              <a:rPr b="1" i="0" lang="en-US" sz="9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화면 설명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2"/>
          <p:cNvSpPr/>
          <p:nvPr/>
        </p:nvSpPr>
        <p:spPr>
          <a:xfrm>
            <a:off x="6163056" y="1517904"/>
            <a:ext cx="2596896" cy="13716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2"/>
          <p:cNvSpPr/>
          <p:nvPr/>
        </p:nvSpPr>
        <p:spPr>
          <a:xfrm>
            <a:off x="6163056" y="1554480"/>
            <a:ext cx="2596896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과거와 현재의 피부 분석 결과를 비교하여 변화를 확인할 수 있는 페이지입니다.</a:t>
            </a:r>
            <a:endParaRPr sz="85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5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이전 대비 현재 피부 점수 변화를 카드 형태로 제공하며,</a:t>
            </a:r>
            <a:endParaRPr sz="85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수분, 탄력, 주름, 모공, 색소침착 등 각 지표의 변화량을 통해 개선 또는 악화 상태를 파악할 수 있습니다.</a:t>
            </a:r>
            <a:endParaRPr sz="85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5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레이더 차트를 통해 전체적인 피부 상태 변화를 시각적으로 비교할 수 있으며, 날짜 선택을 통해 원하는 시점의 데이터를 조회할 수 있습니다.</a:t>
            </a:r>
            <a:endParaRPr sz="85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2" name="Google Shape;372;p12"/>
          <p:cNvSpPr/>
          <p:nvPr/>
        </p:nvSpPr>
        <p:spPr>
          <a:xfrm>
            <a:off x="6035040" y="3145536"/>
            <a:ext cx="2852928" cy="17007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2"/>
          <p:cNvSpPr/>
          <p:nvPr/>
        </p:nvSpPr>
        <p:spPr>
          <a:xfrm>
            <a:off x="6035040" y="3145536"/>
            <a:ext cx="2852928" cy="45720"/>
          </a:xfrm>
          <a:prstGeom prst="rect">
            <a:avLst/>
          </a:prstGeom>
          <a:solidFill>
            <a:srgbClr val="D4EDB8"/>
          </a:solidFill>
          <a:ln cap="flat" cmpd="sng" w="12700">
            <a:solidFill>
              <a:srgbClr val="D4E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2"/>
          <p:cNvSpPr/>
          <p:nvPr/>
        </p:nvSpPr>
        <p:spPr>
          <a:xfrm>
            <a:off x="6163056" y="3236976"/>
            <a:ext cx="2596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950"/>
              <a:buFont typeface="Noto Sans KR"/>
              <a:buNone/>
            </a:pPr>
            <a:r>
              <a:rPr b="1" i="0" lang="en-US" sz="9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주석 / 메모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2"/>
          <p:cNvSpPr/>
          <p:nvPr/>
        </p:nvSpPr>
        <p:spPr>
          <a:xfrm>
            <a:off x="6163056" y="3511296"/>
            <a:ext cx="2596896" cy="13716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2"/>
          <p:cNvSpPr/>
          <p:nvPr/>
        </p:nvSpPr>
        <p:spPr>
          <a:xfrm>
            <a:off x="6163056" y="3547872"/>
            <a:ext cx="259689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</a:t>
            </a: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이전 및 현재 피부 점수 카드 형태 비교 표시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수분·탄력·주름·모공·색소침착 </a:t>
            </a: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지표별 </a:t>
            </a: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변화량 및 증감 표시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</a:t>
            </a: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이전과 현재 데이터를 레이더 차트로 중첩 시각화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2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2"/>
          <p:cNvSpPr/>
          <p:nvPr/>
        </p:nvSpPr>
        <p:spPr>
          <a:xfrm>
            <a:off x="274320" y="4956048"/>
            <a:ext cx="85953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lang="en-US" sz="750">
                <a:solidFill>
                  <a:srgbClr val="9E9E9E"/>
                </a:solidFill>
                <a:latin typeface="Noto Sans"/>
                <a:ea typeface="Noto Sans"/>
                <a:cs typeface="Noto Sans"/>
                <a:sym typeface="Noto Sans"/>
              </a:rPr>
              <a:t>On You 화면 설계서  |  © 2026 ONYOU. All rights reserved.</a:t>
            </a:r>
            <a:endParaRPr sz="750">
              <a:solidFill>
                <a:srgbClr val="9E9E9E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9" name="Google Shape;379;p12"/>
          <p:cNvSpPr/>
          <p:nvPr/>
        </p:nvSpPr>
        <p:spPr>
          <a:xfrm>
            <a:off x="5888736" y="256032"/>
            <a:ext cx="155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i="1" lang="en-US" sz="750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홈 &gt; 피부 분석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2"/>
          <p:cNvSpPr/>
          <p:nvPr/>
        </p:nvSpPr>
        <p:spPr>
          <a:xfrm>
            <a:off x="7552944" y="256032"/>
            <a:ext cx="1463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i="1" lang="en-US" sz="750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ANLY S01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3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3"/>
          <p:cNvSpPr/>
          <p:nvPr/>
        </p:nvSpPr>
        <p:spPr>
          <a:xfrm>
            <a:off x="-731520" y="2926080"/>
            <a:ext cx="2743200" cy="2743200"/>
          </a:xfrm>
          <a:prstGeom prst="ellipse">
            <a:avLst/>
          </a:prstGeom>
          <a:solidFill>
            <a:srgbClr val="5A8A28">
              <a:alpha val="30196"/>
            </a:srgbClr>
          </a:solidFill>
          <a:ln cap="flat" cmpd="sng" w="12700">
            <a:solidFill>
              <a:srgbClr val="5A8A28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3"/>
          <p:cNvSpPr/>
          <p:nvPr/>
        </p:nvSpPr>
        <p:spPr>
          <a:xfrm>
            <a:off x="137160" y="457200"/>
            <a:ext cx="32004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0"/>
              <a:buFont typeface="Noto Sans KR"/>
              <a:buNone/>
            </a:pPr>
            <a:r>
              <a:rPr b="1" i="0" lang="en-US" sz="100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 b="0" i="0" sz="10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3"/>
          <p:cNvSpPr/>
          <p:nvPr/>
        </p:nvSpPr>
        <p:spPr>
          <a:xfrm>
            <a:off x="3840480" y="1371600"/>
            <a:ext cx="5029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3600"/>
              <a:buFont typeface="Noto Sans KR"/>
              <a:buNone/>
            </a:pPr>
            <a:r>
              <a:rPr b="1" i="0" lang="en-US" sz="3600" u="none" cap="none" strike="noStrike">
                <a:solidFill>
                  <a:srgbClr val="1E1E1E"/>
                </a:solidFill>
                <a:latin typeface="Noto Sans KR"/>
                <a:ea typeface="Noto Sans KR"/>
                <a:cs typeface="Noto Sans KR"/>
                <a:sym typeface="Noto Sans KR"/>
              </a:rPr>
              <a:t>피부 MBTI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3"/>
          <p:cNvSpPr/>
          <p:nvPr/>
        </p:nvSpPr>
        <p:spPr>
          <a:xfrm>
            <a:off x="3840480" y="2423160"/>
            <a:ext cx="1097280" cy="54864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3"/>
          <p:cNvSpPr/>
          <p:nvPr/>
        </p:nvSpPr>
        <p:spPr>
          <a:xfrm>
            <a:off x="3840480" y="260604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스킨케어 성향 유형 검사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3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3"/>
          <p:cNvSpPr/>
          <p:nvPr/>
        </p:nvSpPr>
        <p:spPr>
          <a:xfrm>
            <a:off x="365760" y="4919472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lang="en-US" sz="750">
                <a:solidFill>
                  <a:srgbClr val="9E9E9E"/>
                </a:solidFill>
                <a:latin typeface="Noto Sans"/>
                <a:ea typeface="Noto Sans"/>
                <a:cs typeface="Noto Sans"/>
                <a:sym typeface="Noto Sans"/>
              </a:rPr>
              <a:t>On You 화면 설계서  |  © 2026 ONYOU.</a:t>
            </a:r>
            <a:endParaRPr sz="800">
              <a:solidFill>
                <a:srgbClr val="9E9E9E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4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4"/>
          <p:cNvSpPr/>
          <p:nvPr/>
        </p:nvSpPr>
        <p:spPr>
          <a:xfrm>
            <a:off x="0" y="0"/>
            <a:ext cx="54864" cy="566928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4"/>
          <p:cNvSpPr/>
          <p:nvPr/>
        </p:nvSpPr>
        <p:spPr>
          <a:xfrm>
            <a:off x="201168" y="100584"/>
            <a:ext cx="1234440" cy="347472"/>
          </a:xfrm>
          <a:prstGeom prst="roundRect">
            <a:avLst>
              <a:gd fmla="val 18421" name="adj"/>
            </a:avLst>
          </a:prstGeom>
          <a:solidFill>
            <a:srgbClr val="D4EDB8"/>
          </a:solidFill>
          <a:ln cap="flat" cmpd="sng" w="12700">
            <a:solidFill>
              <a:srgbClr val="D4E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4"/>
          <p:cNvSpPr/>
          <p:nvPr/>
        </p:nvSpPr>
        <p:spPr>
          <a:xfrm>
            <a:off x="201168" y="100584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850"/>
              <a:buFont typeface="Noto Sans KR"/>
              <a:buNone/>
            </a:pPr>
            <a:r>
              <a:rPr b="1" i="0" lang="en-US" sz="8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03 피부MBTI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4"/>
          <p:cNvSpPr/>
          <p:nvPr/>
        </p:nvSpPr>
        <p:spPr>
          <a:xfrm>
            <a:off x="1554480" y="91440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Noto Sans KR"/>
              <a:buNone/>
            </a:pPr>
            <a:r>
              <a:rPr b="1" i="0" lang="en-US" sz="1400" u="none" cap="none" strike="noStrike">
                <a:solidFill>
                  <a:srgbClr val="1E1E1E"/>
                </a:solidFill>
                <a:latin typeface="Noto Sans KR"/>
                <a:ea typeface="Noto Sans KR"/>
                <a:cs typeface="Noto Sans KR"/>
                <a:sym typeface="Noto Sans KR"/>
              </a:rPr>
              <a:t>3-1    피부 MBTI – 테스트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4"/>
          <p:cNvSpPr/>
          <p:nvPr/>
        </p:nvSpPr>
        <p:spPr>
          <a:xfrm>
            <a:off x="5833872" y="91440"/>
            <a:ext cx="13716" cy="38404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4"/>
          <p:cNvSpPr/>
          <p:nvPr/>
        </p:nvSpPr>
        <p:spPr>
          <a:xfrm>
            <a:off x="5870448" y="73152"/>
            <a:ext cx="6583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00"/>
              <a:buFont typeface="Noto Sans KR"/>
              <a:buNone/>
            </a:pPr>
            <a:r>
              <a:rPr b="1" i="0" lang="en-US" sz="70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화면경로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4"/>
          <p:cNvSpPr/>
          <p:nvPr/>
        </p:nvSpPr>
        <p:spPr>
          <a:xfrm>
            <a:off x="5870448" y="256032"/>
            <a:ext cx="1572768" cy="219456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4"/>
          <p:cNvSpPr/>
          <p:nvPr/>
        </p:nvSpPr>
        <p:spPr>
          <a:xfrm>
            <a:off x="5888736" y="256032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b="0" i="1" lang="en-US" sz="75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홈 &gt; </a:t>
            </a:r>
            <a:r>
              <a:rPr i="1" lang="en-US" sz="750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피부 MBTI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4"/>
          <p:cNvSpPr/>
          <p:nvPr/>
        </p:nvSpPr>
        <p:spPr>
          <a:xfrm>
            <a:off x="7498080" y="91440"/>
            <a:ext cx="13716" cy="38404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4"/>
          <p:cNvSpPr/>
          <p:nvPr/>
        </p:nvSpPr>
        <p:spPr>
          <a:xfrm>
            <a:off x="7534656" y="7315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00"/>
              <a:buFont typeface="Noto Sans KR"/>
              <a:buNone/>
            </a:pPr>
            <a:r>
              <a:rPr b="1" i="0" lang="en-US" sz="70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요구사항 ID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4"/>
          <p:cNvSpPr/>
          <p:nvPr/>
        </p:nvSpPr>
        <p:spPr>
          <a:xfrm>
            <a:off x="7534656" y="256032"/>
            <a:ext cx="1481328" cy="219456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4"/>
          <p:cNvSpPr/>
          <p:nvPr/>
        </p:nvSpPr>
        <p:spPr>
          <a:xfrm>
            <a:off x="7552944" y="256032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i="1" lang="en-US" sz="750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MBTI01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4"/>
          <p:cNvSpPr/>
          <p:nvPr/>
        </p:nvSpPr>
        <p:spPr>
          <a:xfrm>
            <a:off x="0" y="566928"/>
            <a:ext cx="9144000" cy="1828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4"/>
          <p:cNvSpPr/>
          <p:nvPr/>
        </p:nvSpPr>
        <p:spPr>
          <a:xfrm>
            <a:off x="256032" y="685800"/>
            <a:ext cx="5532120" cy="4160520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4" name="Google Shape;41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032" y="1356752"/>
            <a:ext cx="5532120" cy="2818615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14"/>
          <p:cNvSpPr/>
          <p:nvPr/>
        </p:nvSpPr>
        <p:spPr>
          <a:xfrm>
            <a:off x="6035040" y="685800"/>
            <a:ext cx="2852928" cy="402336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4"/>
          <p:cNvSpPr/>
          <p:nvPr/>
        </p:nvSpPr>
        <p:spPr>
          <a:xfrm>
            <a:off x="6035040" y="685800"/>
            <a:ext cx="28529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화면번호  3-1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4"/>
          <p:cNvSpPr/>
          <p:nvPr/>
        </p:nvSpPr>
        <p:spPr>
          <a:xfrm>
            <a:off x="6035040" y="1152144"/>
            <a:ext cx="2852928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4"/>
          <p:cNvSpPr/>
          <p:nvPr/>
        </p:nvSpPr>
        <p:spPr>
          <a:xfrm>
            <a:off x="6035040" y="1152144"/>
            <a:ext cx="2852928" cy="45720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4"/>
          <p:cNvSpPr/>
          <p:nvPr/>
        </p:nvSpPr>
        <p:spPr>
          <a:xfrm>
            <a:off x="6163056" y="1243584"/>
            <a:ext cx="2596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950"/>
              <a:buFont typeface="Noto Sans KR"/>
              <a:buNone/>
            </a:pPr>
            <a:r>
              <a:rPr b="1" i="0" lang="en-US" sz="9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화면 설명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4"/>
          <p:cNvSpPr/>
          <p:nvPr/>
        </p:nvSpPr>
        <p:spPr>
          <a:xfrm>
            <a:off x="6163056" y="1517904"/>
            <a:ext cx="2596896" cy="13716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4"/>
          <p:cNvSpPr/>
          <p:nvPr/>
        </p:nvSpPr>
        <p:spPr>
          <a:xfrm>
            <a:off x="6163056" y="1554480"/>
            <a:ext cx="2596896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12문항으로 구성된 스킨케어 성향을 파악하는 MBTI 테스트 화면입니다.</a:t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각 문항은 객관식 4지선다(A, B, C, D) 형식으로 제공되며, 사용자가 쉽고 빠르게 선택할 수 있도록 구성되어 있습니다.</a:t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상단에 현재 문항 진척 상황을 보여주는 진행률 바가 표시되어 전체 테스트 진행 정도를 한눈에 확인할 수 있습니다.</a:t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t/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22" name="Google Shape;422;p14"/>
          <p:cNvSpPr/>
          <p:nvPr/>
        </p:nvSpPr>
        <p:spPr>
          <a:xfrm>
            <a:off x="6035040" y="3145536"/>
            <a:ext cx="2852928" cy="17007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4"/>
          <p:cNvSpPr/>
          <p:nvPr/>
        </p:nvSpPr>
        <p:spPr>
          <a:xfrm>
            <a:off x="6035040" y="3145536"/>
            <a:ext cx="2852928" cy="45720"/>
          </a:xfrm>
          <a:prstGeom prst="rect">
            <a:avLst/>
          </a:prstGeom>
          <a:solidFill>
            <a:srgbClr val="D4EDB8"/>
          </a:solidFill>
          <a:ln cap="flat" cmpd="sng" w="12700">
            <a:solidFill>
              <a:srgbClr val="D4E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4"/>
          <p:cNvSpPr/>
          <p:nvPr/>
        </p:nvSpPr>
        <p:spPr>
          <a:xfrm>
            <a:off x="6163056" y="3236976"/>
            <a:ext cx="2596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950"/>
              <a:buFont typeface="Noto Sans KR"/>
              <a:buNone/>
            </a:pPr>
            <a:r>
              <a:rPr b="1" i="0" lang="en-US" sz="9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주석 / 메모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4"/>
          <p:cNvSpPr/>
          <p:nvPr/>
        </p:nvSpPr>
        <p:spPr>
          <a:xfrm>
            <a:off x="6163056" y="3511296"/>
            <a:ext cx="2596896" cy="13716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4"/>
          <p:cNvSpPr/>
          <p:nvPr/>
        </p:nvSpPr>
        <p:spPr>
          <a:xfrm>
            <a:off x="6163056" y="3547872"/>
            <a:ext cx="259689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</a:t>
            </a: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진행률바로 1문항부터 12문항까지 현재 위치를 표시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이전/다음 버튼</a:t>
            </a: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으로 문항 순서대로 자연스럽게 이동 가능하도록 구현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4"/>
          <p:cNvSpPr/>
          <p:nvPr/>
        </p:nvSpPr>
        <p:spPr>
          <a:xfrm>
            <a:off x="274320" y="4956048"/>
            <a:ext cx="85953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lang="en-US" sz="750">
                <a:solidFill>
                  <a:srgbClr val="9E9E9E"/>
                </a:solidFill>
                <a:latin typeface="Noto Sans"/>
                <a:ea typeface="Noto Sans"/>
                <a:cs typeface="Noto Sans"/>
                <a:sym typeface="Noto Sans"/>
              </a:rPr>
              <a:t>On You 화면 설계서  |  © 2026 ONYOU. All rights reserved.</a:t>
            </a:r>
            <a:endParaRPr sz="750">
              <a:solidFill>
                <a:srgbClr val="9E9E9E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5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5"/>
          <p:cNvSpPr/>
          <p:nvPr/>
        </p:nvSpPr>
        <p:spPr>
          <a:xfrm>
            <a:off x="0" y="0"/>
            <a:ext cx="54864" cy="566928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5"/>
          <p:cNvSpPr/>
          <p:nvPr/>
        </p:nvSpPr>
        <p:spPr>
          <a:xfrm>
            <a:off x="201168" y="100584"/>
            <a:ext cx="1234440" cy="347472"/>
          </a:xfrm>
          <a:prstGeom prst="roundRect">
            <a:avLst>
              <a:gd fmla="val 18421" name="adj"/>
            </a:avLst>
          </a:prstGeom>
          <a:solidFill>
            <a:srgbClr val="D4EDB8"/>
          </a:solidFill>
          <a:ln cap="flat" cmpd="sng" w="12700">
            <a:solidFill>
              <a:srgbClr val="D4E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5"/>
          <p:cNvSpPr/>
          <p:nvPr/>
        </p:nvSpPr>
        <p:spPr>
          <a:xfrm>
            <a:off x="201168" y="100584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850"/>
              <a:buFont typeface="Noto Sans KR"/>
              <a:buNone/>
            </a:pPr>
            <a:r>
              <a:rPr b="1" i="0" lang="en-US" sz="8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03 피부MBTI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5"/>
          <p:cNvSpPr/>
          <p:nvPr/>
        </p:nvSpPr>
        <p:spPr>
          <a:xfrm>
            <a:off x="1554480" y="91440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Noto Sans KR"/>
              <a:buNone/>
            </a:pPr>
            <a:r>
              <a:rPr b="1" i="0" lang="en-US" sz="1400" u="none" cap="none" strike="noStrike">
                <a:solidFill>
                  <a:srgbClr val="1E1E1E"/>
                </a:solidFill>
                <a:latin typeface="Noto Sans KR"/>
                <a:ea typeface="Noto Sans KR"/>
                <a:cs typeface="Noto Sans KR"/>
                <a:sym typeface="Noto Sans KR"/>
              </a:rPr>
              <a:t>3-2    피부 MBTI – 결과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5"/>
          <p:cNvSpPr/>
          <p:nvPr/>
        </p:nvSpPr>
        <p:spPr>
          <a:xfrm>
            <a:off x="5833872" y="91440"/>
            <a:ext cx="13716" cy="38404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5"/>
          <p:cNvSpPr/>
          <p:nvPr/>
        </p:nvSpPr>
        <p:spPr>
          <a:xfrm>
            <a:off x="5870448" y="73152"/>
            <a:ext cx="6583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00"/>
              <a:buFont typeface="Noto Sans KR"/>
              <a:buNone/>
            </a:pPr>
            <a:r>
              <a:rPr b="1" i="0" lang="en-US" sz="70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화면경로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5"/>
          <p:cNvSpPr/>
          <p:nvPr/>
        </p:nvSpPr>
        <p:spPr>
          <a:xfrm>
            <a:off x="5870448" y="256032"/>
            <a:ext cx="1572768" cy="219456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5"/>
          <p:cNvSpPr/>
          <p:nvPr/>
        </p:nvSpPr>
        <p:spPr>
          <a:xfrm>
            <a:off x="7498080" y="91440"/>
            <a:ext cx="13716" cy="38404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5"/>
          <p:cNvSpPr/>
          <p:nvPr/>
        </p:nvSpPr>
        <p:spPr>
          <a:xfrm>
            <a:off x="7534656" y="7315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00"/>
              <a:buFont typeface="Noto Sans KR"/>
              <a:buNone/>
            </a:pPr>
            <a:r>
              <a:rPr b="1" i="0" lang="en-US" sz="70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요구사항 ID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5"/>
          <p:cNvSpPr/>
          <p:nvPr/>
        </p:nvSpPr>
        <p:spPr>
          <a:xfrm>
            <a:off x="7534656" y="256032"/>
            <a:ext cx="1481328" cy="219456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5"/>
          <p:cNvSpPr/>
          <p:nvPr/>
        </p:nvSpPr>
        <p:spPr>
          <a:xfrm>
            <a:off x="0" y="566928"/>
            <a:ext cx="9144000" cy="1828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5"/>
          <p:cNvSpPr/>
          <p:nvPr/>
        </p:nvSpPr>
        <p:spPr>
          <a:xfrm>
            <a:off x="256032" y="685800"/>
            <a:ext cx="5532120" cy="4160520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7" name="Google Shape;447;p15" title="3-2 MBTI-결과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256032" y="1244727"/>
            <a:ext cx="5532119" cy="3042666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15"/>
          <p:cNvSpPr/>
          <p:nvPr/>
        </p:nvSpPr>
        <p:spPr>
          <a:xfrm>
            <a:off x="6035040" y="685800"/>
            <a:ext cx="2852928" cy="402336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5"/>
          <p:cNvSpPr/>
          <p:nvPr/>
        </p:nvSpPr>
        <p:spPr>
          <a:xfrm>
            <a:off x="6035040" y="685800"/>
            <a:ext cx="28529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화면번호  3-2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5"/>
          <p:cNvSpPr/>
          <p:nvPr/>
        </p:nvSpPr>
        <p:spPr>
          <a:xfrm>
            <a:off x="6035040" y="1152144"/>
            <a:ext cx="2852928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5"/>
          <p:cNvSpPr/>
          <p:nvPr/>
        </p:nvSpPr>
        <p:spPr>
          <a:xfrm>
            <a:off x="6035040" y="1152144"/>
            <a:ext cx="2852928" cy="45720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5"/>
          <p:cNvSpPr/>
          <p:nvPr/>
        </p:nvSpPr>
        <p:spPr>
          <a:xfrm>
            <a:off x="6163056" y="1243584"/>
            <a:ext cx="2596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950"/>
              <a:buFont typeface="Noto Sans KR"/>
              <a:buNone/>
            </a:pPr>
            <a:r>
              <a:rPr b="1" i="0" lang="en-US" sz="9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화면 설명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5"/>
          <p:cNvSpPr/>
          <p:nvPr/>
        </p:nvSpPr>
        <p:spPr>
          <a:xfrm>
            <a:off x="6163056" y="1517904"/>
            <a:ext cx="2596896" cy="13716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5"/>
          <p:cNvSpPr/>
          <p:nvPr/>
        </p:nvSpPr>
        <p:spPr>
          <a:xfrm>
            <a:off x="6163056" y="1554480"/>
            <a:ext cx="2596896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테스트 결과로 도출된 피부 MBTI 유형과 특성을 카드 형태로 제공하는 화면입니다.</a:t>
            </a:r>
            <a:endParaRPr sz="85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5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유형별 캐릭터 이미지를 함께 표시하여 이해도와 몰입감을 높이며, 아침·저녁 스킨케어 루틴과 맞춤 케어 팁을 통해 관리 방법을 안내합니다.</a:t>
            </a:r>
            <a:endParaRPr sz="85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5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또한 피부 목표와 유형 정보를 명확하게 제시하고, 챗봇 연계를 통해 추가 상담으로 이어질 수 있도록 구성되어 있으며, 카카오톡 공유 기능을 통해 결과를 외부로 손쉽게 공유할 수 있습니다.</a:t>
            </a:r>
            <a:endParaRPr sz="85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t/>
            </a:r>
            <a:endParaRPr sz="85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55" name="Google Shape;455;p15"/>
          <p:cNvSpPr/>
          <p:nvPr/>
        </p:nvSpPr>
        <p:spPr>
          <a:xfrm>
            <a:off x="6035040" y="3145536"/>
            <a:ext cx="2852928" cy="17007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5"/>
          <p:cNvSpPr/>
          <p:nvPr/>
        </p:nvSpPr>
        <p:spPr>
          <a:xfrm>
            <a:off x="6035040" y="3145536"/>
            <a:ext cx="2852928" cy="45720"/>
          </a:xfrm>
          <a:prstGeom prst="rect">
            <a:avLst/>
          </a:prstGeom>
          <a:solidFill>
            <a:srgbClr val="D4EDB8"/>
          </a:solidFill>
          <a:ln cap="flat" cmpd="sng" w="12700">
            <a:solidFill>
              <a:srgbClr val="D4E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5"/>
          <p:cNvSpPr/>
          <p:nvPr/>
        </p:nvSpPr>
        <p:spPr>
          <a:xfrm>
            <a:off x="6163056" y="3236976"/>
            <a:ext cx="2596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950"/>
              <a:buFont typeface="Noto Sans KR"/>
              <a:buNone/>
            </a:pPr>
            <a:r>
              <a:rPr b="1" i="0" lang="en-US" sz="9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주석 / 메모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5"/>
          <p:cNvSpPr/>
          <p:nvPr/>
        </p:nvSpPr>
        <p:spPr>
          <a:xfrm>
            <a:off x="6163056" y="3511296"/>
            <a:ext cx="2596896" cy="13716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5"/>
          <p:cNvSpPr/>
          <p:nvPr/>
        </p:nvSpPr>
        <p:spPr>
          <a:xfrm>
            <a:off x="6163056" y="3547872"/>
            <a:ext cx="259689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</a:t>
            </a: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피부 MBTI 유형별 캐릭터 이미지 및 시각 요소 제공</a:t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</a:t>
            </a: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내 타입 및 피부 목표 카드 형태로 핵심 정보 표시</a:t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</a:t>
            </a: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아침·저녁 스킨케어 루틴 및 케어 팁 구분 제공</a:t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</a:t>
            </a: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챗봇 연계 링크를 통한 추가 상담 및 정보 탐색 가능</a:t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카카오톡 공유 버튼을 통한 결과 외부 공유 기능 제공</a:t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</a:t>
            </a: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다시 검사하기 버튼을 통한 재진단 기능 제공</a:t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60" name="Google Shape;460;p15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5"/>
          <p:cNvSpPr/>
          <p:nvPr/>
        </p:nvSpPr>
        <p:spPr>
          <a:xfrm>
            <a:off x="274320" y="4956048"/>
            <a:ext cx="85953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lang="en-US" sz="750">
                <a:solidFill>
                  <a:srgbClr val="9E9E9E"/>
                </a:solidFill>
                <a:latin typeface="Noto Sans"/>
                <a:ea typeface="Noto Sans"/>
                <a:cs typeface="Noto Sans"/>
                <a:sym typeface="Noto Sans"/>
              </a:rPr>
              <a:t>On You 화면 설계서  |  © 2026 ONYOU. All rights reserved.</a:t>
            </a:r>
            <a:endParaRPr sz="750">
              <a:solidFill>
                <a:srgbClr val="9E9E9E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62" name="Google Shape;462;p15"/>
          <p:cNvSpPr/>
          <p:nvPr/>
        </p:nvSpPr>
        <p:spPr>
          <a:xfrm>
            <a:off x="5888736" y="256032"/>
            <a:ext cx="155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b="0" i="1" lang="en-US" sz="75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홈 &gt; </a:t>
            </a:r>
            <a:r>
              <a:rPr i="1" lang="en-US" sz="750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피부 MBTI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5"/>
          <p:cNvSpPr/>
          <p:nvPr/>
        </p:nvSpPr>
        <p:spPr>
          <a:xfrm>
            <a:off x="7552944" y="256032"/>
            <a:ext cx="1463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i="1" lang="en-US" sz="750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MBTI01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6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6"/>
          <p:cNvSpPr/>
          <p:nvPr/>
        </p:nvSpPr>
        <p:spPr>
          <a:xfrm>
            <a:off x="-731520" y="2926080"/>
            <a:ext cx="2743200" cy="2743200"/>
          </a:xfrm>
          <a:prstGeom prst="ellipse">
            <a:avLst/>
          </a:prstGeom>
          <a:solidFill>
            <a:srgbClr val="5A8A28">
              <a:alpha val="30196"/>
            </a:srgbClr>
          </a:solidFill>
          <a:ln cap="flat" cmpd="sng" w="12700">
            <a:solidFill>
              <a:srgbClr val="5A8A28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6"/>
          <p:cNvSpPr/>
          <p:nvPr/>
        </p:nvSpPr>
        <p:spPr>
          <a:xfrm>
            <a:off x="137160" y="457200"/>
            <a:ext cx="32004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0"/>
              <a:buFont typeface="Noto Sans KR"/>
              <a:buNone/>
            </a:pPr>
            <a:r>
              <a:rPr b="1" i="0" lang="en-US" sz="100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04</a:t>
            </a:r>
            <a:endParaRPr b="0" i="0" sz="10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6"/>
          <p:cNvSpPr/>
          <p:nvPr/>
        </p:nvSpPr>
        <p:spPr>
          <a:xfrm>
            <a:off x="3840480" y="1371600"/>
            <a:ext cx="5029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3600"/>
              <a:buFont typeface="Noto Sans KR"/>
              <a:buNone/>
            </a:pPr>
            <a:r>
              <a:rPr b="1" i="0" lang="en-US" sz="3600" u="none" cap="none" strike="noStrike">
                <a:solidFill>
                  <a:srgbClr val="1E1E1E"/>
                </a:solidFill>
                <a:latin typeface="Noto Sans KR"/>
                <a:ea typeface="Noto Sans KR"/>
                <a:cs typeface="Noto Sans KR"/>
                <a:sym typeface="Noto Sans KR"/>
              </a:rPr>
              <a:t>위시리스트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6"/>
          <p:cNvSpPr/>
          <p:nvPr/>
        </p:nvSpPr>
        <p:spPr>
          <a:xfrm>
            <a:off x="3840480" y="2423160"/>
            <a:ext cx="1097280" cy="54864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6"/>
          <p:cNvSpPr/>
          <p:nvPr/>
        </p:nvSpPr>
        <p:spPr>
          <a:xfrm>
            <a:off x="3840480" y="260604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AI 추천 제품 저장 목록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6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6"/>
          <p:cNvSpPr/>
          <p:nvPr/>
        </p:nvSpPr>
        <p:spPr>
          <a:xfrm>
            <a:off x="365760" y="4919472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lang="en-US" sz="750">
                <a:solidFill>
                  <a:srgbClr val="9E9E9E"/>
                </a:solidFill>
                <a:latin typeface="Noto Sans"/>
                <a:ea typeface="Noto Sans"/>
                <a:cs typeface="Noto Sans"/>
                <a:sym typeface="Noto Sans"/>
              </a:rPr>
              <a:t>On You 화면 설계서  |  © 2026 ONYOU.</a:t>
            </a:r>
            <a:endParaRPr sz="800">
              <a:solidFill>
                <a:srgbClr val="9E9E9E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7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7"/>
          <p:cNvSpPr/>
          <p:nvPr/>
        </p:nvSpPr>
        <p:spPr>
          <a:xfrm>
            <a:off x="0" y="0"/>
            <a:ext cx="54864" cy="566928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7"/>
          <p:cNvSpPr/>
          <p:nvPr/>
        </p:nvSpPr>
        <p:spPr>
          <a:xfrm>
            <a:off x="201168" y="100584"/>
            <a:ext cx="1234440" cy="347472"/>
          </a:xfrm>
          <a:prstGeom prst="roundRect">
            <a:avLst>
              <a:gd fmla="val 18421" name="adj"/>
            </a:avLst>
          </a:prstGeom>
          <a:solidFill>
            <a:srgbClr val="D4EDB8"/>
          </a:solidFill>
          <a:ln cap="flat" cmpd="sng" w="12700">
            <a:solidFill>
              <a:srgbClr val="D4E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7"/>
          <p:cNvSpPr/>
          <p:nvPr/>
        </p:nvSpPr>
        <p:spPr>
          <a:xfrm>
            <a:off x="201168" y="100584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850"/>
              <a:buFont typeface="Noto Sans KR"/>
              <a:buNone/>
            </a:pPr>
            <a:r>
              <a:rPr b="1" i="0" lang="en-US" sz="8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04 위시리스트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7"/>
          <p:cNvSpPr/>
          <p:nvPr/>
        </p:nvSpPr>
        <p:spPr>
          <a:xfrm>
            <a:off x="1554480" y="91440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Noto Sans KR"/>
              <a:buNone/>
            </a:pPr>
            <a:r>
              <a:rPr b="1" i="0" lang="en-US" sz="1400" u="none" cap="none" strike="noStrike">
                <a:solidFill>
                  <a:srgbClr val="1E1E1E"/>
                </a:solidFill>
                <a:latin typeface="Noto Sans KR"/>
                <a:ea typeface="Noto Sans KR"/>
                <a:cs typeface="Noto Sans KR"/>
                <a:sym typeface="Noto Sans KR"/>
              </a:rPr>
              <a:t>4    위시리스트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7"/>
          <p:cNvSpPr/>
          <p:nvPr/>
        </p:nvSpPr>
        <p:spPr>
          <a:xfrm>
            <a:off x="5833872" y="91440"/>
            <a:ext cx="13716" cy="38404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7"/>
          <p:cNvSpPr/>
          <p:nvPr/>
        </p:nvSpPr>
        <p:spPr>
          <a:xfrm>
            <a:off x="5870448" y="73152"/>
            <a:ext cx="6583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00"/>
              <a:buFont typeface="Noto Sans KR"/>
              <a:buNone/>
            </a:pPr>
            <a:r>
              <a:rPr b="1" i="0" lang="en-US" sz="70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화면경로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7"/>
          <p:cNvSpPr/>
          <p:nvPr/>
        </p:nvSpPr>
        <p:spPr>
          <a:xfrm>
            <a:off x="5870448" y="256032"/>
            <a:ext cx="1572768" cy="219456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7"/>
          <p:cNvSpPr/>
          <p:nvPr/>
        </p:nvSpPr>
        <p:spPr>
          <a:xfrm>
            <a:off x="5888736" y="256032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b="0" i="1" lang="en-US" sz="75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홈 &gt; </a:t>
            </a:r>
            <a:r>
              <a:rPr i="1" lang="en-US" sz="750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위시리스트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7"/>
          <p:cNvSpPr/>
          <p:nvPr/>
        </p:nvSpPr>
        <p:spPr>
          <a:xfrm>
            <a:off x="7498080" y="91440"/>
            <a:ext cx="13716" cy="38404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7"/>
          <p:cNvSpPr/>
          <p:nvPr/>
        </p:nvSpPr>
        <p:spPr>
          <a:xfrm>
            <a:off x="7534656" y="7315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00"/>
              <a:buFont typeface="Noto Sans KR"/>
              <a:buNone/>
            </a:pPr>
            <a:r>
              <a:rPr b="1" i="0" lang="en-US" sz="70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요구사항 ID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7"/>
          <p:cNvSpPr/>
          <p:nvPr/>
        </p:nvSpPr>
        <p:spPr>
          <a:xfrm>
            <a:off x="7534656" y="256032"/>
            <a:ext cx="1481328" cy="219456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7"/>
          <p:cNvSpPr/>
          <p:nvPr/>
        </p:nvSpPr>
        <p:spPr>
          <a:xfrm>
            <a:off x="7552944" y="256032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i="1" lang="en-US" sz="750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WISH</a:t>
            </a:r>
            <a:r>
              <a:rPr b="0" i="1" lang="en-US" sz="75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7"/>
          <p:cNvSpPr/>
          <p:nvPr/>
        </p:nvSpPr>
        <p:spPr>
          <a:xfrm>
            <a:off x="0" y="566928"/>
            <a:ext cx="9144000" cy="1828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7"/>
          <p:cNvSpPr/>
          <p:nvPr/>
        </p:nvSpPr>
        <p:spPr>
          <a:xfrm>
            <a:off x="256032" y="685800"/>
            <a:ext cx="5532120" cy="4160520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97" name="Google Shape;497;p17" title="4 위시리스트.png"/>
          <p:cNvPicPr preferRelativeResize="0"/>
          <p:nvPr/>
        </p:nvPicPr>
        <p:blipFill rotWithShape="1">
          <a:blip r:embed="rId3">
            <a:alphaModFix/>
          </a:blip>
          <a:srcRect b="10" l="0" r="0" t="0"/>
          <a:stretch/>
        </p:blipFill>
        <p:spPr>
          <a:xfrm>
            <a:off x="256032" y="1329092"/>
            <a:ext cx="5532119" cy="2873936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17"/>
          <p:cNvSpPr/>
          <p:nvPr/>
        </p:nvSpPr>
        <p:spPr>
          <a:xfrm>
            <a:off x="6035040" y="685800"/>
            <a:ext cx="2852928" cy="402336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7"/>
          <p:cNvSpPr/>
          <p:nvPr/>
        </p:nvSpPr>
        <p:spPr>
          <a:xfrm>
            <a:off x="6035040" y="685800"/>
            <a:ext cx="28529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화면번호  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7"/>
          <p:cNvSpPr/>
          <p:nvPr/>
        </p:nvSpPr>
        <p:spPr>
          <a:xfrm>
            <a:off x="6035040" y="1152144"/>
            <a:ext cx="2852928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7"/>
          <p:cNvSpPr/>
          <p:nvPr/>
        </p:nvSpPr>
        <p:spPr>
          <a:xfrm>
            <a:off x="6035040" y="1152144"/>
            <a:ext cx="2852928" cy="45720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7"/>
          <p:cNvSpPr/>
          <p:nvPr/>
        </p:nvSpPr>
        <p:spPr>
          <a:xfrm>
            <a:off x="6163056" y="1243584"/>
            <a:ext cx="2596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950"/>
              <a:buFont typeface="Noto Sans KR"/>
              <a:buNone/>
            </a:pPr>
            <a:r>
              <a:rPr b="1" i="0" lang="en-US" sz="9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화면 설명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7"/>
          <p:cNvSpPr/>
          <p:nvPr/>
        </p:nvSpPr>
        <p:spPr>
          <a:xfrm>
            <a:off x="6163056" y="1517904"/>
            <a:ext cx="2596896" cy="13716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7"/>
          <p:cNvSpPr/>
          <p:nvPr/>
        </p:nvSpPr>
        <p:spPr>
          <a:xfrm>
            <a:off x="6163056" y="1554480"/>
            <a:ext cx="2596896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AI 채팅에서 추천받은 제품을 사용자가 저장, 관리할 수 있는 위시리스트 화면입니다.</a:t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각 제품 카드는 제품명, 추가 날짜, 올리브영 구매 링크 버튼, 삭제 버튼으로 구성되어 있으며, 구매 링크 버튼 클릭 시 올리브영 외부 페이지로 이동됩니다.</a:t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여러 제품이 저장된 경우 페이지네이션 기능을 통해 목록을 편리하게 탐색할 수 있습니다.</a:t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t/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5" name="Google Shape;505;p17"/>
          <p:cNvSpPr/>
          <p:nvPr/>
        </p:nvSpPr>
        <p:spPr>
          <a:xfrm>
            <a:off x="6035040" y="3145536"/>
            <a:ext cx="2852928" cy="17007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7"/>
          <p:cNvSpPr/>
          <p:nvPr/>
        </p:nvSpPr>
        <p:spPr>
          <a:xfrm>
            <a:off x="6035040" y="3145536"/>
            <a:ext cx="2852928" cy="45720"/>
          </a:xfrm>
          <a:prstGeom prst="rect">
            <a:avLst/>
          </a:prstGeom>
          <a:solidFill>
            <a:srgbClr val="D4EDB8"/>
          </a:solidFill>
          <a:ln cap="flat" cmpd="sng" w="12700">
            <a:solidFill>
              <a:srgbClr val="D4E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7"/>
          <p:cNvSpPr/>
          <p:nvPr/>
        </p:nvSpPr>
        <p:spPr>
          <a:xfrm>
            <a:off x="6163056" y="3236976"/>
            <a:ext cx="2596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950"/>
              <a:buFont typeface="Noto Sans KR"/>
              <a:buNone/>
            </a:pPr>
            <a:r>
              <a:rPr b="1" i="0" lang="en-US" sz="9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주석 / 메모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7"/>
          <p:cNvSpPr/>
          <p:nvPr/>
        </p:nvSpPr>
        <p:spPr>
          <a:xfrm>
            <a:off x="6163056" y="3511296"/>
            <a:ext cx="2596896" cy="13716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7"/>
          <p:cNvSpPr/>
          <p:nvPr/>
        </p:nvSpPr>
        <p:spPr>
          <a:xfrm>
            <a:off x="6163056" y="3547872"/>
            <a:ext cx="259689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저장 제품 수 뱃지 표시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제품 카드: 이름·추가일·구매링크·삭제(🗑)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</a:t>
            </a: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‘올리브영 구매 링크’ 버튼은 외부 링크 형태로 새 창(탭)에서 열리도록 구현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7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7"/>
          <p:cNvSpPr/>
          <p:nvPr/>
        </p:nvSpPr>
        <p:spPr>
          <a:xfrm>
            <a:off x="274320" y="4956048"/>
            <a:ext cx="85953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lang="en-US" sz="750">
                <a:solidFill>
                  <a:srgbClr val="9E9E9E"/>
                </a:solidFill>
                <a:latin typeface="Noto Sans"/>
                <a:ea typeface="Noto Sans"/>
                <a:cs typeface="Noto Sans"/>
                <a:sym typeface="Noto Sans"/>
              </a:rPr>
              <a:t>On You 화면 설계서  |  © 2026 ONYOU. All rights reserved.</a:t>
            </a:r>
            <a:endParaRPr sz="750">
              <a:solidFill>
                <a:srgbClr val="9E9E9E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18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8"/>
          <p:cNvSpPr/>
          <p:nvPr/>
        </p:nvSpPr>
        <p:spPr>
          <a:xfrm>
            <a:off x="-731520" y="2926080"/>
            <a:ext cx="2743200" cy="2743200"/>
          </a:xfrm>
          <a:prstGeom prst="ellipse">
            <a:avLst/>
          </a:prstGeom>
          <a:solidFill>
            <a:srgbClr val="5A8A28">
              <a:alpha val="30196"/>
            </a:srgbClr>
          </a:solidFill>
          <a:ln cap="flat" cmpd="sng" w="12700">
            <a:solidFill>
              <a:srgbClr val="5A8A28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8"/>
          <p:cNvSpPr/>
          <p:nvPr/>
        </p:nvSpPr>
        <p:spPr>
          <a:xfrm>
            <a:off x="137160" y="457200"/>
            <a:ext cx="32004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0"/>
              <a:buFont typeface="Noto Sans KR"/>
              <a:buNone/>
            </a:pPr>
            <a:r>
              <a:rPr b="1" i="0" lang="en-US" sz="100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05</a:t>
            </a:r>
            <a:endParaRPr b="0" i="0" sz="10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8"/>
          <p:cNvSpPr/>
          <p:nvPr/>
        </p:nvSpPr>
        <p:spPr>
          <a:xfrm>
            <a:off x="3840480" y="1371600"/>
            <a:ext cx="5029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3600"/>
              <a:buFont typeface="Noto Sans KR"/>
              <a:buNone/>
            </a:pPr>
            <a:r>
              <a:rPr b="1" i="0" lang="en-US" sz="3600" u="none" cap="none" strike="noStrike">
                <a:solidFill>
                  <a:srgbClr val="1E1E1E"/>
                </a:solidFill>
                <a:latin typeface="Noto Sans KR"/>
                <a:ea typeface="Noto Sans KR"/>
                <a:cs typeface="Noto Sans KR"/>
                <a:sym typeface="Noto Sans KR"/>
              </a:rPr>
              <a:t>인증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8"/>
          <p:cNvSpPr/>
          <p:nvPr/>
        </p:nvSpPr>
        <p:spPr>
          <a:xfrm>
            <a:off x="3840480" y="2423160"/>
            <a:ext cx="1097280" cy="54864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8"/>
          <p:cNvSpPr/>
          <p:nvPr/>
        </p:nvSpPr>
        <p:spPr>
          <a:xfrm>
            <a:off x="3840480" y="260604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로그인 · 회원가입 · 비밀번호 찾기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8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8"/>
          <p:cNvSpPr/>
          <p:nvPr/>
        </p:nvSpPr>
        <p:spPr>
          <a:xfrm>
            <a:off x="365760" y="4919472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lang="en-US" sz="750">
                <a:solidFill>
                  <a:srgbClr val="9E9E9E"/>
                </a:solidFill>
                <a:latin typeface="Noto Sans"/>
                <a:ea typeface="Noto Sans"/>
                <a:cs typeface="Noto Sans"/>
                <a:sym typeface="Noto Sans"/>
              </a:rPr>
              <a:t>On You 화면 설계서  |  © 2026 ONYOU.</a:t>
            </a:r>
            <a:endParaRPr sz="800">
              <a:solidFill>
                <a:srgbClr val="9E9E9E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9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9"/>
          <p:cNvSpPr/>
          <p:nvPr/>
        </p:nvSpPr>
        <p:spPr>
          <a:xfrm>
            <a:off x="0" y="0"/>
            <a:ext cx="54864" cy="566928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9"/>
          <p:cNvSpPr/>
          <p:nvPr/>
        </p:nvSpPr>
        <p:spPr>
          <a:xfrm>
            <a:off x="201168" y="100584"/>
            <a:ext cx="1234440" cy="347472"/>
          </a:xfrm>
          <a:prstGeom prst="roundRect">
            <a:avLst>
              <a:gd fmla="val 18421" name="adj"/>
            </a:avLst>
          </a:prstGeom>
          <a:solidFill>
            <a:srgbClr val="D4EDB8"/>
          </a:solidFill>
          <a:ln cap="flat" cmpd="sng" w="12700">
            <a:solidFill>
              <a:srgbClr val="D4E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9"/>
          <p:cNvSpPr/>
          <p:nvPr/>
        </p:nvSpPr>
        <p:spPr>
          <a:xfrm>
            <a:off x="201168" y="100584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850"/>
              <a:buFont typeface="Noto Sans KR"/>
              <a:buNone/>
            </a:pPr>
            <a:r>
              <a:rPr b="1" i="0" lang="en-US" sz="8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05 인증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9"/>
          <p:cNvSpPr/>
          <p:nvPr/>
        </p:nvSpPr>
        <p:spPr>
          <a:xfrm>
            <a:off x="1554480" y="91440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Noto Sans KR"/>
              <a:buNone/>
            </a:pPr>
            <a:r>
              <a:rPr b="1" i="0" lang="en-US" sz="1400" u="none" cap="none" strike="noStrike">
                <a:solidFill>
                  <a:srgbClr val="1E1E1E"/>
                </a:solidFill>
                <a:latin typeface="Noto Sans KR"/>
                <a:ea typeface="Noto Sans KR"/>
                <a:cs typeface="Noto Sans KR"/>
                <a:sym typeface="Noto Sans KR"/>
              </a:rPr>
              <a:t>5-1    로그인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9"/>
          <p:cNvSpPr/>
          <p:nvPr/>
        </p:nvSpPr>
        <p:spPr>
          <a:xfrm>
            <a:off x="5833872" y="91440"/>
            <a:ext cx="13716" cy="38404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9"/>
          <p:cNvSpPr/>
          <p:nvPr/>
        </p:nvSpPr>
        <p:spPr>
          <a:xfrm>
            <a:off x="5870448" y="73152"/>
            <a:ext cx="6583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00"/>
              <a:buFont typeface="Noto Sans KR"/>
              <a:buNone/>
            </a:pPr>
            <a:r>
              <a:rPr b="1" i="0" lang="en-US" sz="70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화면경로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9"/>
          <p:cNvSpPr/>
          <p:nvPr/>
        </p:nvSpPr>
        <p:spPr>
          <a:xfrm>
            <a:off x="5870448" y="256032"/>
            <a:ext cx="1572768" cy="219456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9"/>
          <p:cNvSpPr/>
          <p:nvPr/>
        </p:nvSpPr>
        <p:spPr>
          <a:xfrm>
            <a:off x="5888736" y="256032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i="1" lang="en-US" sz="750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홈 &gt; </a:t>
            </a:r>
            <a:r>
              <a:rPr i="1" lang="en-US" sz="750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로그인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9"/>
          <p:cNvSpPr/>
          <p:nvPr/>
        </p:nvSpPr>
        <p:spPr>
          <a:xfrm>
            <a:off x="7498080" y="91440"/>
            <a:ext cx="13716" cy="38404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9"/>
          <p:cNvSpPr/>
          <p:nvPr/>
        </p:nvSpPr>
        <p:spPr>
          <a:xfrm>
            <a:off x="7534656" y="7315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00"/>
              <a:buFont typeface="Noto Sans KR"/>
              <a:buNone/>
            </a:pPr>
            <a:r>
              <a:rPr b="1" i="0" lang="en-US" sz="70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요구사항 ID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9"/>
          <p:cNvSpPr/>
          <p:nvPr/>
        </p:nvSpPr>
        <p:spPr>
          <a:xfrm>
            <a:off x="7534656" y="256032"/>
            <a:ext cx="1481328" cy="219456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9"/>
          <p:cNvSpPr/>
          <p:nvPr/>
        </p:nvSpPr>
        <p:spPr>
          <a:xfrm>
            <a:off x="7552944" y="256032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i="1" lang="en-US" sz="750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AUTH01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9"/>
          <p:cNvSpPr/>
          <p:nvPr/>
        </p:nvSpPr>
        <p:spPr>
          <a:xfrm>
            <a:off x="0" y="566928"/>
            <a:ext cx="9144000" cy="1828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9"/>
          <p:cNvSpPr/>
          <p:nvPr/>
        </p:nvSpPr>
        <p:spPr>
          <a:xfrm>
            <a:off x="256032" y="685800"/>
            <a:ext cx="5532120" cy="4160520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5" name="Google Shape;545;p19" title="5-1 로그인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256032" y="1356752"/>
            <a:ext cx="5532119" cy="2818615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19"/>
          <p:cNvSpPr/>
          <p:nvPr/>
        </p:nvSpPr>
        <p:spPr>
          <a:xfrm>
            <a:off x="6035040" y="685800"/>
            <a:ext cx="2852928" cy="402336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9"/>
          <p:cNvSpPr/>
          <p:nvPr/>
        </p:nvSpPr>
        <p:spPr>
          <a:xfrm>
            <a:off x="6035040" y="685800"/>
            <a:ext cx="28529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화면번호  5-1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9"/>
          <p:cNvSpPr/>
          <p:nvPr/>
        </p:nvSpPr>
        <p:spPr>
          <a:xfrm>
            <a:off x="6035040" y="1152144"/>
            <a:ext cx="2852928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9"/>
          <p:cNvSpPr/>
          <p:nvPr/>
        </p:nvSpPr>
        <p:spPr>
          <a:xfrm>
            <a:off x="6035040" y="1152144"/>
            <a:ext cx="2852928" cy="45720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9"/>
          <p:cNvSpPr/>
          <p:nvPr/>
        </p:nvSpPr>
        <p:spPr>
          <a:xfrm>
            <a:off x="6163056" y="1243584"/>
            <a:ext cx="2596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950"/>
              <a:buFont typeface="Noto Sans KR"/>
              <a:buNone/>
            </a:pPr>
            <a:r>
              <a:rPr b="1" i="0" lang="en-US" sz="9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화면 설명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9"/>
          <p:cNvSpPr/>
          <p:nvPr/>
        </p:nvSpPr>
        <p:spPr>
          <a:xfrm>
            <a:off x="6163056" y="1517904"/>
            <a:ext cx="2596896" cy="13716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9"/>
          <p:cNvSpPr/>
          <p:nvPr/>
        </p:nvSpPr>
        <p:spPr>
          <a:xfrm>
            <a:off x="6163056" y="1554480"/>
            <a:ext cx="2596896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서비스 진입을 위한 이메일과 비밀번호 기반 로그인 화면입니다.</a:t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Google, 카카오, 네이버 3가지 소셜 로그인 옵션을 지원하여 사용자가 간편하게 로그인할 수 있습니다.</a:t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비밀번호 찾기 및 회원가입 링크가 제공되어 아이디 분실이나 신규 회원 가입 상황에 대응합니다.</a:t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t/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3" name="Google Shape;553;p19"/>
          <p:cNvSpPr/>
          <p:nvPr/>
        </p:nvSpPr>
        <p:spPr>
          <a:xfrm>
            <a:off x="6035040" y="3145536"/>
            <a:ext cx="2852928" cy="17007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9"/>
          <p:cNvSpPr/>
          <p:nvPr/>
        </p:nvSpPr>
        <p:spPr>
          <a:xfrm>
            <a:off x="6035040" y="3145536"/>
            <a:ext cx="2852928" cy="45720"/>
          </a:xfrm>
          <a:prstGeom prst="rect">
            <a:avLst/>
          </a:prstGeom>
          <a:solidFill>
            <a:srgbClr val="D4EDB8"/>
          </a:solidFill>
          <a:ln cap="flat" cmpd="sng" w="12700">
            <a:solidFill>
              <a:srgbClr val="D4E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9"/>
          <p:cNvSpPr/>
          <p:nvPr/>
        </p:nvSpPr>
        <p:spPr>
          <a:xfrm>
            <a:off x="6163056" y="3236976"/>
            <a:ext cx="2596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950"/>
              <a:buFont typeface="Noto Sans KR"/>
              <a:buNone/>
            </a:pPr>
            <a:r>
              <a:rPr b="1" i="0" lang="en-US" sz="9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주석 / 메모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9"/>
          <p:cNvSpPr/>
          <p:nvPr/>
        </p:nvSpPr>
        <p:spPr>
          <a:xfrm>
            <a:off x="6163056" y="3511296"/>
            <a:ext cx="2596896" cy="13716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9"/>
          <p:cNvSpPr/>
          <p:nvPr/>
        </p:nvSpPr>
        <p:spPr>
          <a:xfrm>
            <a:off x="6163056" y="3547872"/>
            <a:ext cx="259689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사용자 편의를 위한 비밀번호 표시/숨기기 토글(👁)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소셜 로그인 버튼 3종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미로그인 시 기능 제한</a:t>
            </a:r>
            <a:endParaRPr b="0" i="0" sz="900" u="none" cap="none" strike="noStrike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로고 애니메이션 클릭시 메인(채팅)페이지로 이동</a:t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8" name="Google Shape;558;p19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9"/>
          <p:cNvSpPr/>
          <p:nvPr/>
        </p:nvSpPr>
        <p:spPr>
          <a:xfrm>
            <a:off x="274320" y="4956048"/>
            <a:ext cx="85953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lang="en-US" sz="750">
                <a:solidFill>
                  <a:srgbClr val="9E9E9E"/>
                </a:solidFill>
                <a:latin typeface="Noto Sans"/>
                <a:ea typeface="Noto Sans"/>
                <a:cs typeface="Noto Sans"/>
                <a:sym typeface="Noto Sans"/>
              </a:rPr>
              <a:t>On You 화면 설계서  |  © 2026 ONYOU. All rights reserved.</a:t>
            </a:r>
            <a:endParaRPr sz="750">
              <a:solidFill>
                <a:srgbClr val="9E9E9E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20"/>
          <p:cNvSpPr/>
          <p:nvPr/>
        </p:nvSpPr>
        <p:spPr>
          <a:xfrm>
            <a:off x="0" y="0"/>
            <a:ext cx="54864" cy="566928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20"/>
          <p:cNvSpPr/>
          <p:nvPr/>
        </p:nvSpPr>
        <p:spPr>
          <a:xfrm>
            <a:off x="201168" y="100584"/>
            <a:ext cx="1234440" cy="347472"/>
          </a:xfrm>
          <a:prstGeom prst="roundRect">
            <a:avLst>
              <a:gd fmla="val 18421" name="adj"/>
            </a:avLst>
          </a:prstGeom>
          <a:solidFill>
            <a:srgbClr val="D4EDB8"/>
          </a:solidFill>
          <a:ln cap="flat" cmpd="sng" w="12700">
            <a:solidFill>
              <a:srgbClr val="D4E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20"/>
          <p:cNvSpPr/>
          <p:nvPr/>
        </p:nvSpPr>
        <p:spPr>
          <a:xfrm>
            <a:off x="201168" y="100584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850"/>
              <a:buFont typeface="Noto Sans KR"/>
              <a:buNone/>
            </a:pPr>
            <a:r>
              <a:rPr b="1" i="0" lang="en-US" sz="8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05 인증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0"/>
          <p:cNvSpPr/>
          <p:nvPr/>
        </p:nvSpPr>
        <p:spPr>
          <a:xfrm>
            <a:off x="1554480" y="91440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Noto Sans KR"/>
              <a:buNone/>
            </a:pPr>
            <a:r>
              <a:rPr b="1" i="0" lang="en-US" sz="1400" u="none" cap="none" strike="noStrike">
                <a:solidFill>
                  <a:srgbClr val="1E1E1E"/>
                </a:solidFill>
                <a:latin typeface="Noto Sans KR"/>
                <a:ea typeface="Noto Sans KR"/>
                <a:cs typeface="Noto Sans KR"/>
                <a:sym typeface="Noto Sans KR"/>
              </a:rPr>
              <a:t>5-2    회원가입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0"/>
          <p:cNvSpPr/>
          <p:nvPr/>
        </p:nvSpPr>
        <p:spPr>
          <a:xfrm>
            <a:off x="5833872" y="91440"/>
            <a:ext cx="13716" cy="38404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20"/>
          <p:cNvSpPr/>
          <p:nvPr/>
        </p:nvSpPr>
        <p:spPr>
          <a:xfrm>
            <a:off x="5870448" y="73152"/>
            <a:ext cx="6583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00"/>
              <a:buFont typeface="Noto Sans KR"/>
              <a:buNone/>
            </a:pPr>
            <a:r>
              <a:rPr b="1" i="0" lang="en-US" sz="70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화면경로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0"/>
          <p:cNvSpPr/>
          <p:nvPr/>
        </p:nvSpPr>
        <p:spPr>
          <a:xfrm>
            <a:off x="5870448" y="256032"/>
            <a:ext cx="1572768" cy="219456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0"/>
          <p:cNvSpPr/>
          <p:nvPr/>
        </p:nvSpPr>
        <p:spPr>
          <a:xfrm>
            <a:off x="5888736" y="256032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i="1" lang="en-US" sz="750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홈 &gt; </a:t>
            </a:r>
            <a:r>
              <a:rPr i="1" lang="en-US" sz="750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로그인 &gt; 회원가입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0"/>
          <p:cNvSpPr/>
          <p:nvPr/>
        </p:nvSpPr>
        <p:spPr>
          <a:xfrm>
            <a:off x="7498080" y="91440"/>
            <a:ext cx="13716" cy="38404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0"/>
          <p:cNvSpPr/>
          <p:nvPr/>
        </p:nvSpPr>
        <p:spPr>
          <a:xfrm>
            <a:off x="7534656" y="7315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00"/>
              <a:buFont typeface="Noto Sans KR"/>
              <a:buNone/>
            </a:pPr>
            <a:r>
              <a:rPr b="1" i="0" lang="en-US" sz="70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요구사항 ID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0"/>
          <p:cNvSpPr/>
          <p:nvPr/>
        </p:nvSpPr>
        <p:spPr>
          <a:xfrm>
            <a:off x="7534656" y="256032"/>
            <a:ext cx="1481328" cy="219456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0"/>
          <p:cNvSpPr/>
          <p:nvPr/>
        </p:nvSpPr>
        <p:spPr>
          <a:xfrm>
            <a:off x="0" y="566928"/>
            <a:ext cx="9144000" cy="1828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20"/>
          <p:cNvSpPr/>
          <p:nvPr/>
        </p:nvSpPr>
        <p:spPr>
          <a:xfrm>
            <a:off x="256032" y="685800"/>
            <a:ext cx="5532120" cy="4160520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9" name="Google Shape;579;p20" title="5-2 회원가입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256032" y="1356752"/>
            <a:ext cx="5532119" cy="2818615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20"/>
          <p:cNvSpPr/>
          <p:nvPr/>
        </p:nvSpPr>
        <p:spPr>
          <a:xfrm>
            <a:off x="6035040" y="685800"/>
            <a:ext cx="2852928" cy="402336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0"/>
          <p:cNvSpPr/>
          <p:nvPr/>
        </p:nvSpPr>
        <p:spPr>
          <a:xfrm>
            <a:off x="6035040" y="685800"/>
            <a:ext cx="28529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화면번호  5-2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0"/>
          <p:cNvSpPr/>
          <p:nvPr/>
        </p:nvSpPr>
        <p:spPr>
          <a:xfrm>
            <a:off x="6035040" y="1152144"/>
            <a:ext cx="2852928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20"/>
          <p:cNvSpPr/>
          <p:nvPr/>
        </p:nvSpPr>
        <p:spPr>
          <a:xfrm>
            <a:off x="6035040" y="1152144"/>
            <a:ext cx="2852928" cy="45720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0"/>
          <p:cNvSpPr/>
          <p:nvPr/>
        </p:nvSpPr>
        <p:spPr>
          <a:xfrm>
            <a:off x="6163056" y="1243584"/>
            <a:ext cx="2596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950"/>
              <a:buFont typeface="Noto Sans KR"/>
              <a:buNone/>
            </a:pPr>
            <a:r>
              <a:rPr b="1" i="0" lang="en-US" sz="9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화면 설명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0"/>
          <p:cNvSpPr/>
          <p:nvPr/>
        </p:nvSpPr>
        <p:spPr>
          <a:xfrm>
            <a:off x="6163056" y="1517904"/>
            <a:ext cx="2596896" cy="13716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20"/>
          <p:cNvSpPr/>
          <p:nvPr/>
        </p:nvSpPr>
        <p:spPr>
          <a:xfrm>
            <a:off x="6163056" y="1554480"/>
            <a:ext cx="2596896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이메일 인증을 완료한 후 비밀번호와 닉네임을 설정하고 회원가입을 진행하는 화면입니다.</a:t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이메일 인증 → 비밀번호 입력 → 닉네임 중복 확인 → 약관 동의 → 가입하기 순서로 진행되며,</a:t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이용약관 및 개인정보처리방침 동의 후 가입이 완료됩니다.</a:t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87" name="Google Shape;587;p20"/>
          <p:cNvSpPr/>
          <p:nvPr/>
        </p:nvSpPr>
        <p:spPr>
          <a:xfrm>
            <a:off x="6035040" y="3145536"/>
            <a:ext cx="2852928" cy="17007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20"/>
          <p:cNvSpPr/>
          <p:nvPr/>
        </p:nvSpPr>
        <p:spPr>
          <a:xfrm>
            <a:off x="6035040" y="3145536"/>
            <a:ext cx="2852928" cy="45720"/>
          </a:xfrm>
          <a:prstGeom prst="rect">
            <a:avLst/>
          </a:prstGeom>
          <a:solidFill>
            <a:srgbClr val="D4EDB8"/>
          </a:solidFill>
          <a:ln cap="flat" cmpd="sng" w="12700">
            <a:solidFill>
              <a:srgbClr val="D4E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0"/>
          <p:cNvSpPr/>
          <p:nvPr/>
        </p:nvSpPr>
        <p:spPr>
          <a:xfrm>
            <a:off x="6163056" y="3236976"/>
            <a:ext cx="2596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950"/>
              <a:buFont typeface="Noto Sans KR"/>
              <a:buNone/>
            </a:pPr>
            <a:r>
              <a:rPr b="1" i="0" lang="en-US" sz="9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주석 / 메모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0"/>
          <p:cNvSpPr/>
          <p:nvPr/>
        </p:nvSpPr>
        <p:spPr>
          <a:xfrm>
            <a:off x="6163056" y="3511296"/>
            <a:ext cx="2596896" cy="13716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0"/>
          <p:cNvSpPr/>
          <p:nvPr/>
        </p:nvSpPr>
        <p:spPr>
          <a:xfrm>
            <a:off x="6163056" y="3547872"/>
            <a:ext cx="259689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이메일 인증 코드 6자리 입력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</a:t>
            </a: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닉네임 중복 확인 기능 제공</a:t>
            </a:r>
            <a:endParaRPr b="0" i="0" sz="900" u="none" cap="none" strike="noStrike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이용약관 및 개인정보처리방침 동의 체크박스 제공</a:t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가입하기 버튼 상단에 약관 안내 문구 배치</a:t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</a:t>
            </a: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가입 완료 시 온보딩 화면으로 이동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0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0"/>
          <p:cNvSpPr/>
          <p:nvPr/>
        </p:nvSpPr>
        <p:spPr>
          <a:xfrm>
            <a:off x="274320" y="4956048"/>
            <a:ext cx="85953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lang="en-US" sz="750">
                <a:solidFill>
                  <a:srgbClr val="9E9E9E"/>
                </a:solidFill>
                <a:latin typeface="Noto Sans"/>
                <a:ea typeface="Noto Sans"/>
                <a:cs typeface="Noto Sans"/>
                <a:sym typeface="Noto Sans"/>
              </a:rPr>
              <a:t>On You 화면 설계서  |  © 2026 ONYOU. All rights reserved.</a:t>
            </a:r>
            <a:endParaRPr sz="750">
              <a:solidFill>
                <a:srgbClr val="9E9E9E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94" name="Google Shape;594;p20"/>
          <p:cNvSpPr/>
          <p:nvPr/>
        </p:nvSpPr>
        <p:spPr>
          <a:xfrm>
            <a:off x="7552944" y="256032"/>
            <a:ext cx="1463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i="1" lang="en-US" sz="750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AUTH01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2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1"/>
          <p:cNvSpPr/>
          <p:nvPr/>
        </p:nvSpPr>
        <p:spPr>
          <a:xfrm>
            <a:off x="0" y="0"/>
            <a:ext cx="54864" cy="566928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21"/>
          <p:cNvSpPr/>
          <p:nvPr/>
        </p:nvSpPr>
        <p:spPr>
          <a:xfrm>
            <a:off x="201168" y="100584"/>
            <a:ext cx="1234440" cy="347472"/>
          </a:xfrm>
          <a:prstGeom prst="roundRect">
            <a:avLst>
              <a:gd fmla="val 18421" name="adj"/>
            </a:avLst>
          </a:prstGeom>
          <a:solidFill>
            <a:srgbClr val="D4EDB8"/>
          </a:solidFill>
          <a:ln cap="flat" cmpd="sng" w="12700">
            <a:solidFill>
              <a:srgbClr val="D4E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21"/>
          <p:cNvSpPr/>
          <p:nvPr/>
        </p:nvSpPr>
        <p:spPr>
          <a:xfrm>
            <a:off x="201168" y="100584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850"/>
              <a:buFont typeface="Noto Sans KR"/>
              <a:buNone/>
            </a:pPr>
            <a:r>
              <a:rPr b="1" i="0" lang="en-US" sz="8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05 인증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1"/>
          <p:cNvSpPr/>
          <p:nvPr/>
        </p:nvSpPr>
        <p:spPr>
          <a:xfrm>
            <a:off x="1554480" y="91440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Noto Sans KR"/>
              <a:buNone/>
            </a:pPr>
            <a:r>
              <a:rPr b="1" i="0" lang="en-US" sz="1400" u="none" cap="none" strike="noStrike">
                <a:solidFill>
                  <a:srgbClr val="1E1E1E"/>
                </a:solidFill>
                <a:latin typeface="Noto Sans KR"/>
                <a:ea typeface="Noto Sans KR"/>
                <a:cs typeface="Noto Sans KR"/>
                <a:sym typeface="Noto Sans KR"/>
              </a:rPr>
              <a:t>5-3    비밀번호 찾기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1"/>
          <p:cNvSpPr/>
          <p:nvPr/>
        </p:nvSpPr>
        <p:spPr>
          <a:xfrm>
            <a:off x="5833872" y="91440"/>
            <a:ext cx="13716" cy="38404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21"/>
          <p:cNvSpPr/>
          <p:nvPr/>
        </p:nvSpPr>
        <p:spPr>
          <a:xfrm>
            <a:off x="5870448" y="73152"/>
            <a:ext cx="6583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00"/>
              <a:buFont typeface="Noto Sans KR"/>
              <a:buNone/>
            </a:pPr>
            <a:r>
              <a:rPr b="1" i="0" lang="en-US" sz="70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화면경로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1"/>
          <p:cNvSpPr/>
          <p:nvPr/>
        </p:nvSpPr>
        <p:spPr>
          <a:xfrm>
            <a:off x="5870448" y="256032"/>
            <a:ext cx="1572768" cy="219456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1"/>
          <p:cNvSpPr/>
          <p:nvPr/>
        </p:nvSpPr>
        <p:spPr>
          <a:xfrm>
            <a:off x="5888736" y="256032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i="1" lang="en-US" sz="750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홈 &gt; 로그인 &gt; 비밀번호 찾기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1"/>
          <p:cNvSpPr/>
          <p:nvPr/>
        </p:nvSpPr>
        <p:spPr>
          <a:xfrm>
            <a:off x="7498080" y="91440"/>
            <a:ext cx="13716" cy="38404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1"/>
          <p:cNvSpPr/>
          <p:nvPr/>
        </p:nvSpPr>
        <p:spPr>
          <a:xfrm>
            <a:off x="7534656" y="7315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00"/>
              <a:buFont typeface="Noto Sans KR"/>
              <a:buNone/>
            </a:pPr>
            <a:r>
              <a:rPr b="1" i="0" lang="en-US" sz="70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요구사항 ID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1"/>
          <p:cNvSpPr/>
          <p:nvPr/>
        </p:nvSpPr>
        <p:spPr>
          <a:xfrm>
            <a:off x="7534656" y="256032"/>
            <a:ext cx="1481328" cy="219456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1"/>
          <p:cNvSpPr/>
          <p:nvPr/>
        </p:nvSpPr>
        <p:spPr>
          <a:xfrm>
            <a:off x="0" y="566928"/>
            <a:ext cx="9144000" cy="1828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1"/>
          <p:cNvSpPr/>
          <p:nvPr/>
        </p:nvSpPr>
        <p:spPr>
          <a:xfrm>
            <a:off x="256032" y="685800"/>
            <a:ext cx="5532120" cy="4160520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4" name="Google Shape;61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032" y="1356752"/>
            <a:ext cx="5532120" cy="2818615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21"/>
          <p:cNvSpPr/>
          <p:nvPr/>
        </p:nvSpPr>
        <p:spPr>
          <a:xfrm>
            <a:off x="6035040" y="685800"/>
            <a:ext cx="2852928" cy="402336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21"/>
          <p:cNvSpPr/>
          <p:nvPr/>
        </p:nvSpPr>
        <p:spPr>
          <a:xfrm>
            <a:off x="6035040" y="685800"/>
            <a:ext cx="28529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화면번호  5-3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1"/>
          <p:cNvSpPr/>
          <p:nvPr/>
        </p:nvSpPr>
        <p:spPr>
          <a:xfrm>
            <a:off x="6035040" y="1152144"/>
            <a:ext cx="2852928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21"/>
          <p:cNvSpPr/>
          <p:nvPr/>
        </p:nvSpPr>
        <p:spPr>
          <a:xfrm>
            <a:off x="6035040" y="1152144"/>
            <a:ext cx="2852928" cy="45720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21"/>
          <p:cNvSpPr/>
          <p:nvPr/>
        </p:nvSpPr>
        <p:spPr>
          <a:xfrm>
            <a:off x="6163056" y="1243584"/>
            <a:ext cx="2596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950"/>
              <a:buFont typeface="Noto Sans KR"/>
              <a:buNone/>
            </a:pPr>
            <a:r>
              <a:rPr b="1" i="0" lang="en-US" sz="9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화면 설명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1"/>
          <p:cNvSpPr/>
          <p:nvPr/>
        </p:nvSpPr>
        <p:spPr>
          <a:xfrm>
            <a:off x="6163056" y="1517904"/>
            <a:ext cx="2596896" cy="13716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21"/>
          <p:cNvSpPr/>
          <p:nvPr/>
        </p:nvSpPr>
        <p:spPr>
          <a:xfrm>
            <a:off x="6163056" y="1554480"/>
            <a:ext cx="2596896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가입 이메일로 6자리 인증 코드를 발송하여 비밀번호를 재설정하는 화면입니다.</a:t>
            </a:r>
            <a:endParaRPr b="0" i="0" sz="900" u="none" cap="none" strike="noStrike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t/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코드 유효 시간(10분)이 표시되며 재발송이 </a:t>
            </a: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가</a:t>
            </a: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능합니다.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1"/>
          <p:cNvSpPr/>
          <p:nvPr/>
        </p:nvSpPr>
        <p:spPr>
          <a:xfrm>
            <a:off x="6035040" y="3145536"/>
            <a:ext cx="2852928" cy="17007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21"/>
          <p:cNvSpPr/>
          <p:nvPr/>
        </p:nvSpPr>
        <p:spPr>
          <a:xfrm>
            <a:off x="6035040" y="3145536"/>
            <a:ext cx="2852928" cy="45720"/>
          </a:xfrm>
          <a:prstGeom prst="rect">
            <a:avLst/>
          </a:prstGeom>
          <a:solidFill>
            <a:srgbClr val="D4EDB8"/>
          </a:solidFill>
          <a:ln cap="flat" cmpd="sng" w="12700">
            <a:solidFill>
              <a:srgbClr val="D4E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21"/>
          <p:cNvSpPr/>
          <p:nvPr/>
        </p:nvSpPr>
        <p:spPr>
          <a:xfrm>
            <a:off x="6163056" y="3236976"/>
            <a:ext cx="2596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950"/>
              <a:buFont typeface="Noto Sans KR"/>
              <a:buNone/>
            </a:pPr>
            <a:r>
              <a:rPr b="1" i="0" lang="en-US" sz="9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주석 / 메모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1"/>
          <p:cNvSpPr/>
          <p:nvPr/>
        </p:nvSpPr>
        <p:spPr>
          <a:xfrm>
            <a:off x="6163056" y="3511296"/>
            <a:ext cx="2596896" cy="13716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21"/>
          <p:cNvSpPr/>
          <p:nvPr/>
        </p:nvSpPr>
        <p:spPr>
          <a:xfrm>
            <a:off x="6163056" y="3547872"/>
            <a:ext cx="259689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인증 코드 유효시간 카운트다운 표시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재발송 버튼 제공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로그인 화면으로 돌아가기 링크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1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21"/>
          <p:cNvSpPr/>
          <p:nvPr/>
        </p:nvSpPr>
        <p:spPr>
          <a:xfrm>
            <a:off x="274320" y="4956048"/>
            <a:ext cx="85953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lang="en-US" sz="750">
                <a:solidFill>
                  <a:srgbClr val="9E9E9E"/>
                </a:solidFill>
                <a:latin typeface="Noto Sans"/>
                <a:ea typeface="Noto Sans"/>
                <a:cs typeface="Noto Sans"/>
                <a:sym typeface="Noto Sans"/>
              </a:rPr>
              <a:t>On You 화면 설계서  |  © 2026 ONYOU. All rights reserved.</a:t>
            </a:r>
            <a:endParaRPr sz="750">
              <a:solidFill>
                <a:srgbClr val="9E9E9E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29" name="Google Shape;629;p21"/>
          <p:cNvSpPr/>
          <p:nvPr/>
        </p:nvSpPr>
        <p:spPr>
          <a:xfrm>
            <a:off x="7552944" y="256032"/>
            <a:ext cx="1463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i="1" lang="en-US" sz="750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AUTH01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22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22"/>
          <p:cNvSpPr/>
          <p:nvPr/>
        </p:nvSpPr>
        <p:spPr>
          <a:xfrm>
            <a:off x="-731520" y="2926080"/>
            <a:ext cx="2743200" cy="2743200"/>
          </a:xfrm>
          <a:prstGeom prst="ellipse">
            <a:avLst/>
          </a:prstGeom>
          <a:solidFill>
            <a:srgbClr val="5A8A28">
              <a:alpha val="30196"/>
            </a:srgbClr>
          </a:solidFill>
          <a:ln cap="flat" cmpd="sng" w="12700">
            <a:solidFill>
              <a:srgbClr val="5A8A28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22"/>
          <p:cNvSpPr/>
          <p:nvPr/>
        </p:nvSpPr>
        <p:spPr>
          <a:xfrm>
            <a:off x="137160" y="457200"/>
            <a:ext cx="32004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0"/>
              <a:buFont typeface="Noto Sans KR"/>
              <a:buNone/>
            </a:pPr>
            <a:r>
              <a:rPr b="1" i="0" lang="en-US" sz="100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06</a:t>
            </a:r>
            <a:endParaRPr b="0" i="0" sz="10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2"/>
          <p:cNvSpPr/>
          <p:nvPr/>
        </p:nvSpPr>
        <p:spPr>
          <a:xfrm>
            <a:off x="3840480" y="1371600"/>
            <a:ext cx="5029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3600"/>
              <a:buFont typeface="Noto Sans KR"/>
              <a:buNone/>
            </a:pPr>
            <a:r>
              <a:rPr b="1" i="0" lang="en-US" sz="3600" u="none" cap="none" strike="noStrike">
                <a:solidFill>
                  <a:srgbClr val="1E1E1E"/>
                </a:solidFill>
                <a:latin typeface="Noto Sans KR"/>
                <a:ea typeface="Noto Sans KR"/>
                <a:cs typeface="Noto Sans KR"/>
                <a:sym typeface="Noto Sans KR"/>
              </a:rPr>
              <a:t>온보딩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2"/>
          <p:cNvSpPr/>
          <p:nvPr/>
        </p:nvSpPr>
        <p:spPr>
          <a:xfrm>
            <a:off x="3840480" y="2423160"/>
            <a:ext cx="1097280" cy="54864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22"/>
          <p:cNvSpPr/>
          <p:nvPr/>
        </p:nvSpPr>
        <p:spPr>
          <a:xfrm>
            <a:off x="3840480" y="260604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최초 가입 후 피부 정보 설정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2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22"/>
          <p:cNvSpPr/>
          <p:nvPr/>
        </p:nvSpPr>
        <p:spPr>
          <a:xfrm>
            <a:off x="365760" y="4919472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lang="en-US" sz="750">
                <a:solidFill>
                  <a:srgbClr val="9E9E9E"/>
                </a:solidFill>
                <a:latin typeface="Noto Sans"/>
                <a:ea typeface="Noto Sans"/>
                <a:cs typeface="Noto Sans"/>
                <a:sym typeface="Noto Sans"/>
              </a:rPr>
              <a:t>On You 화면 설계서  |  © 2026 ONYOU.</a:t>
            </a:r>
            <a:endParaRPr sz="800">
              <a:solidFill>
                <a:srgbClr val="9E9E9E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2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23"/>
          <p:cNvSpPr/>
          <p:nvPr/>
        </p:nvSpPr>
        <p:spPr>
          <a:xfrm>
            <a:off x="0" y="0"/>
            <a:ext cx="54864" cy="566928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23"/>
          <p:cNvSpPr/>
          <p:nvPr/>
        </p:nvSpPr>
        <p:spPr>
          <a:xfrm>
            <a:off x="201168" y="100584"/>
            <a:ext cx="1234440" cy="347472"/>
          </a:xfrm>
          <a:prstGeom prst="roundRect">
            <a:avLst>
              <a:gd fmla="val 18421" name="adj"/>
            </a:avLst>
          </a:prstGeom>
          <a:solidFill>
            <a:srgbClr val="D4EDB8"/>
          </a:solidFill>
          <a:ln cap="flat" cmpd="sng" w="12700">
            <a:solidFill>
              <a:srgbClr val="D4E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23"/>
          <p:cNvSpPr/>
          <p:nvPr/>
        </p:nvSpPr>
        <p:spPr>
          <a:xfrm>
            <a:off x="201168" y="100584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850"/>
              <a:buFont typeface="Noto Sans KR"/>
              <a:buNone/>
            </a:pPr>
            <a:r>
              <a:rPr b="1" i="0" lang="en-US" sz="8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06 온보딩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3"/>
          <p:cNvSpPr/>
          <p:nvPr/>
        </p:nvSpPr>
        <p:spPr>
          <a:xfrm>
            <a:off x="1554480" y="91440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Noto Sans KR"/>
              <a:buNone/>
            </a:pPr>
            <a:r>
              <a:rPr b="1" i="0" lang="en-US" sz="1400" u="none" cap="none" strike="noStrike">
                <a:solidFill>
                  <a:srgbClr val="1E1E1E"/>
                </a:solidFill>
                <a:latin typeface="Noto Sans KR"/>
                <a:ea typeface="Noto Sans KR"/>
                <a:cs typeface="Noto Sans KR"/>
                <a:sym typeface="Noto Sans KR"/>
              </a:rPr>
              <a:t>6    온보딩 – 피부 정보 설정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3"/>
          <p:cNvSpPr/>
          <p:nvPr/>
        </p:nvSpPr>
        <p:spPr>
          <a:xfrm>
            <a:off x="5833872" y="91440"/>
            <a:ext cx="13716" cy="38404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23"/>
          <p:cNvSpPr/>
          <p:nvPr/>
        </p:nvSpPr>
        <p:spPr>
          <a:xfrm>
            <a:off x="5870448" y="73152"/>
            <a:ext cx="6583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00"/>
              <a:buFont typeface="Noto Sans KR"/>
              <a:buNone/>
            </a:pPr>
            <a:r>
              <a:rPr b="1" i="0" lang="en-US" sz="70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화면경로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3"/>
          <p:cNvSpPr/>
          <p:nvPr/>
        </p:nvSpPr>
        <p:spPr>
          <a:xfrm>
            <a:off x="5870448" y="256032"/>
            <a:ext cx="1572768" cy="219456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23"/>
          <p:cNvSpPr/>
          <p:nvPr/>
        </p:nvSpPr>
        <p:spPr>
          <a:xfrm>
            <a:off x="5888736" y="256032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b="0" i="1" lang="en-US" sz="75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홈 &gt; </a:t>
            </a:r>
            <a:r>
              <a:rPr i="1" lang="en-US" sz="750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로그인 &gt; 회원가입 &gt; 온보딩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3"/>
          <p:cNvSpPr/>
          <p:nvPr/>
        </p:nvSpPr>
        <p:spPr>
          <a:xfrm>
            <a:off x="7498080" y="91440"/>
            <a:ext cx="13716" cy="38404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23"/>
          <p:cNvSpPr/>
          <p:nvPr/>
        </p:nvSpPr>
        <p:spPr>
          <a:xfrm>
            <a:off x="7534656" y="7315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00"/>
              <a:buFont typeface="Noto Sans KR"/>
              <a:buNone/>
            </a:pPr>
            <a:r>
              <a:rPr b="1" i="0" lang="en-US" sz="70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요구사항 ID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3"/>
          <p:cNvSpPr/>
          <p:nvPr/>
        </p:nvSpPr>
        <p:spPr>
          <a:xfrm>
            <a:off x="7534656" y="256032"/>
            <a:ext cx="1481328" cy="219456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23"/>
          <p:cNvSpPr/>
          <p:nvPr/>
        </p:nvSpPr>
        <p:spPr>
          <a:xfrm>
            <a:off x="7552944" y="256032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i="1" lang="en-US" sz="750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ONBD</a:t>
            </a:r>
            <a:r>
              <a:rPr b="0" i="1" lang="en-US" sz="75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3"/>
          <p:cNvSpPr/>
          <p:nvPr/>
        </p:nvSpPr>
        <p:spPr>
          <a:xfrm>
            <a:off x="0" y="566928"/>
            <a:ext cx="9144000" cy="1828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23"/>
          <p:cNvSpPr/>
          <p:nvPr/>
        </p:nvSpPr>
        <p:spPr>
          <a:xfrm>
            <a:off x="256032" y="685800"/>
            <a:ext cx="5532120" cy="4160520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3" name="Google Shape;66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032" y="1356752"/>
            <a:ext cx="5532120" cy="2818615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23"/>
          <p:cNvSpPr/>
          <p:nvPr/>
        </p:nvSpPr>
        <p:spPr>
          <a:xfrm>
            <a:off x="6035040" y="685800"/>
            <a:ext cx="2852928" cy="402336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3"/>
          <p:cNvSpPr/>
          <p:nvPr/>
        </p:nvSpPr>
        <p:spPr>
          <a:xfrm>
            <a:off x="6035040" y="685800"/>
            <a:ext cx="28529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화면번호  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3"/>
          <p:cNvSpPr/>
          <p:nvPr/>
        </p:nvSpPr>
        <p:spPr>
          <a:xfrm>
            <a:off x="6035040" y="1152144"/>
            <a:ext cx="2852928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3"/>
          <p:cNvSpPr/>
          <p:nvPr/>
        </p:nvSpPr>
        <p:spPr>
          <a:xfrm>
            <a:off x="6035040" y="1152144"/>
            <a:ext cx="2852928" cy="45720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3"/>
          <p:cNvSpPr/>
          <p:nvPr/>
        </p:nvSpPr>
        <p:spPr>
          <a:xfrm>
            <a:off x="6163056" y="1243584"/>
            <a:ext cx="2596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950"/>
              <a:buFont typeface="Noto Sans KR"/>
              <a:buNone/>
            </a:pPr>
            <a:r>
              <a:rPr b="1" i="0" lang="en-US" sz="9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화면 설명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3"/>
          <p:cNvSpPr/>
          <p:nvPr/>
        </p:nvSpPr>
        <p:spPr>
          <a:xfrm>
            <a:off x="6163056" y="1517904"/>
            <a:ext cx="2596896" cy="13716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23"/>
          <p:cNvSpPr/>
          <p:nvPr/>
        </p:nvSpPr>
        <p:spPr>
          <a:xfrm>
            <a:off x="6163056" y="1554480"/>
            <a:ext cx="2596896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최초 로그인 시 맞춤 피부 분석을 위한 기본 정보(성별·나이·피부타입·피부고민)를 입력하는 화면입니다.</a:t>
            </a:r>
            <a:endParaRPr b="0" i="0" sz="900" u="none" cap="none" strike="noStrike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t/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사용자는 입력을 원치 않을 경우 ‘나중에 설정할게요’ 옵션을 선택하여 해당 단계를 건너뛸 수 있습니다.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3"/>
          <p:cNvSpPr/>
          <p:nvPr/>
        </p:nvSpPr>
        <p:spPr>
          <a:xfrm>
            <a:off x="6035040" y="3145536"/>
            <a:ext cx="2852928" cy="17007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23"/>
          <p:cNvSpPr/>
          <p:nvPr/>
        </p:nvSpPr>
        <p:spPr>
          <a:xfrm>
            <a:off x="6035040" y="3145536"/>
            <a:ext cx="2852928" cy="45720"/>
          </a:xfrm>
          <a:prstGeom prst="rect">
            <a:avLst/>
          </a:prstGeom>
          <a:solidFill>
            <a:srgbClr val="D4EDB8"/>
          </a:solidFill>
          <a:ln cap="flat" cmpd="sng" w="12700">
            <a:solidFill>
              <a:srgbClr val="D4E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23"/>
          <p:cNvSpPr/>
          <p:nvPr/>
        </p:nvSpPr>
        <p:spPr>
          <a:xfrm>
            <a:off x="6163056" y="3236976"/>
            <a:ext cx="2596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950"/>
              <a:buFont typeface="Noto Sans KR"/>
              <a:buNone/>
            </a:pPr>
            <a:r>
              <a:rPr b="1" i="0" lang="en-US" sz="9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주석 / 메모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3"/>
          <p:cNvSpPr/>
          <p:nvPr/>
        </p:nvSpPr>
        <p:spPr>
          <a:xfrm>
            <a:off x="6163056" y="3511296"/>
            <a:ext cx="2596896" cy="13716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23"/>
          <p:cNvSpPr/>
          <p:nvPr/>
        </p:nvSpPr>
        <p:spPr>
          <a:xfrm>
            <a:off x="6163056" y="3547872"/>
            <a:ext cx="259689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피부 타입: 건성/지성/민감성/복합성/중성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피부 고민: 복수 선택 및 직접 입력 가능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</a:t>
            </a: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온보딩 필수 항목 입력 후</a:t>
            </a: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 '시작하기' 버튼 활성화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23"/>
          <p:cNvSpPr/>
          <p:nvPr/>
        </p:nvSpPr>
        <p:spPr>
          <a:xfrm>
            <a:off x="274320" y="4956048"/>
            <a:ext cx="85953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lang="en-US" sz="750">
                <a:solidFill>
                  <a:srgbClr val="9E9E9E"/>
                </a:solidFill>
                <a:latin typeface="Noto Sans"/>
                <a:ea typeface="Noto Sans"/>
                <a:cs typeface="Noto Sans"/>
                <a:sym typeface="Noto Sans"/>
              </a:rPr>
              <a:t>On You 화면 설계서  |  © 2026 ONYOU. All rights reserved.</a:t>
            </a:r>
            <a:endParaRPr sz="750">
              <a:solidFill>
                <a:srgbClr val="9E9E9E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24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24"/>
          <p:cNvSpPr/>
          <p:nvPr/>
        </p:nvSpPr>
        <p:spPr>
          <a:xfrm>
            <a:off x="-731520" y="2926080"/>
            <a:ext cx="2743200" cy="2743200"/>
          </a:xfrm>
          <a:prstGeom prst="ellipse">
            <a:avLst/>
          </a:prstGeom>
          <a:solidFill>
            <a:srgbClr val="5A8A28">
              <a:alpha val="30196"/>
            </a:srgbClr>
          </a:solidFill>
          <a:ln cap="flat" cmpd="sng" w="12700">
            <a:solidFill>
              <a:srgbClr val="5A8A28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24"/>
          <p:cNvSpPr/>
          <p:nvPr/>
        </p:nvSpPr>
        <p:spPr>
          <a:xfrm>
            <a:off x="137160" y="457200"/>
            <a:ext cx="32004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0"/>
              <a:buFont typeface="Noto Sans KR"/>
              <a:buNone/>
            </a:pPr>
            <a:r>
              <a:rPr b="1" i="0" lang="en-US" sz="100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07</a:t>
            </a:r>
            <a:endParaRPr b="0" i="0" sz="10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24"/>
          <p:cNvSpPr/>
          <p:nvPr/>
        </p:nvSpPr>
        <p:spPr>
          <a:xfrm>
            <a:off x="3840480" y="1371600"/>
            <a:ext cx="5029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3600"/>
              <a:buFont typeface="Noto Sans KR"/>
              <a:buNone/>
            </a:pPr>
            <a:r>
              <a:rPr b="1" i="0" lang="en-US" sz="3600" u="none" cap="none" strike="noStrike">
                <a:solidFill>
                  <a:srgbClr val="1E1E1E"/>
                </a:solidFill>
                <a:latin typeface="Noto Sans KR"/>
                <a:ea typeface="Noto Sans KR"/>
                <a:cs typeface="Noto Sans KR"/>
                <a:sym typeface="Noto Sans KR"/>
              </a:rPr>
              <a:t>설정 · 마이페이지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4"/>
          <p:cNvSpPr/>
          <p:nvPr/>
        </p:nvSpPr>
        <p:spPr>
          <a:xfrm>
            <a:off x="3840480" y="2423160"/>
            <a:ext cx="1097280" cy="54864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24"/>
          <p:cNvSpPr/>
          <p:nvPr/>
        </p:nvSpPr>
        <p:spPr>
          <a:xfrm>
            <a:off x="3840480" y="260604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계정 정보 및 환경 설정 관리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24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24"/>
          <p:cNvSpPr/>
          <p:nvPr/>
        </p:nvSpPr>
        <p:spPr>
          <a:xfrm>
            <a:off x="365760" y="4919472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lang="en-US" sz="750">
                <a:solidFill>
                  <a:srgbClr val="9E9E9E"/>
                </a:solidFill>
                <a:latin typeface="Noto Sans"/>
                <a:ea typeface="Noto Sans"/>
                <a:cs typeface="Noto Sans"/>
                <a:sym typeface="Noto Sans"/>
              </a:rPr>
              <a:t>On You 화면 설계서  |  © 2026 ONYOU.</a:t>
            </a:r>
            <a:endParaRPr sz="800">
              <a:solidFill>
                <a:srgbClr val="9E9E9E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25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25"/>
          <p:cNvSpPr/>
          <p:nvPr/>
        </p:nvSpPr>
        <p:spPr>
          <a:xfrm>
            <a:off x="0" y="0"/>
            <a:ext cx="54864" cy="566928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25"/>
          <p:cNvSpPr/>
          <p:nvPr/>
        </p:nvSpPr>
        <p:spPr>
          <a:xfrm>
            <a:off x="201168" y="100584"/>
            <a:ext cx="1234440" cy="347472"/>
          </a:xfrm>
          <a:prstGeom prst="roundRect">
            <a:avLst>
              <a:gd fmla="val 18421" name="adj"/>
            </a:avLst>
          </a:prstGeom>
          <a:solidFill>
            <a:srgbClr val="D4EDB8"/>
          </a:solidFill>
          <a:ln cap="flat" cmpd="sng" w="12700">
            <a:solidFill>
              <a:srgbClr val="D4E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25"/>
          <p:cNvSpPr/>
          <p:nvPr/>
        </p:nvSpPr>
        <p:spPr>
          <a:xfrm>
            <a:off x="201168" y="100584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850"/>
              <a:buFont typeface="Noto Sans KR"/>
              <a:buNone/>
            </a:pPr>
            <a:r>
              <a:rPr b="1" i="0" lang="en-US" sz="8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07 설정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25"/>
          <p:cNvSpPr/>
          <p:nvPr/>
        </p:nvSpPr>
        <p:spPr>
          <a:xfrm>
            <a:off x="1554480" y="91440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Noto Sans KR"/>
              <a:buNone/>
            </a:pPr>
            <a:r>
              <a:rPr b="1" i="0" lang="en-US" sz="1400" u="none" cap="none" strike="noStrike">
                <a:solidFill>
                  <a:srgbClr val="1E1E1E"/>
                </a:solidFill>
                <a:latin typeface="Noto Sans KR"/>
                <a:ea typeface="Noto Sans KR"/>
                <a:cs typeface="Noto Sans KR"/>
                <a:sym typeface="Noto Sans KR"/>
              </a:rPr>
              <a:t>7-1    설정 – 프로필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25"/>
          <p:cNvSpPr/>
          <p:nvPr/>
        </p:nvSpPr>
        <p:spPr>
          <a:xfrm>
            <a:off x="5833872" y="91440"/>
            <a:ext cx="13716" cy="38404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25"/>
          <p:cNvSpPr/>
          <p:nvPr/>
        </p:nvSpPr>
        <p:spPr>
          <a:xfrm>
            <a:off x="5870448" y="73152"/>
            <a:ext cx="6583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00"/>
              <a:buFont typeface="Noto Sans KR"/>
              <a:buNone/>
            </a:pPr>
            <a:r>
              <a:rPr b="1" i="0" lang="en-US" sz="70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화면경로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5"/>
          <p:cNvSpPr/>
          <p:nvPr/>
        </p:nvSpPr>
        <p:spPr>
          <a:xfrm>
            <a:off x="5870448" y="256032"/>
            <a:ext cx="1572768" cy="219456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25"/>
          <p:cNvSpPr/>
          <p:nvPr/>
        </p:nvSpPr>
        <p:spPr>
          <a:xfrm>
            <a:off x="5888736" y="256032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b="0" i="1" lang="en-US" sz="75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홈 &gt; </a:t>
            </a:r>
            <a:r>
              <a:rPr i="1" lang="en-US" sz="750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설정 &gt; 프로필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25"/>
          <p:cNvSpPr/>
          <p:nvPr/>
        </p:nvSpPr>
        <p:spPr>
          <a:xfrm>
            <a:off x="7498080" y="91440"/>
            <a:ext cx="13716" cy="38404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25"/>
          <p:cNvSpPr/>
          <p:nvPr/>
        </p:nvSpPr>
        <p:spPr>
          <a:xfrm>
            <a:off x="7534656" y="7315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00"/>
              <a:buFont typeface="Noto Sans KR"/>
              <a:buNone/>
            </a:pPr>
            <a:r>
              <a:rPr b="1" i="0" lang="en-US" sz="70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요구사항 ID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25"/>
          <p:cNvSpPr/>
          <p:nvPr/>
        </p:nvSpPr>
        <p:spPr>
          <a:xfrm>
            <a:off x="7534656" y="256032"/>
            <a:ext cx="1481328" cy="219456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25"/>
          <p:cNvSpPr/>
          <p:nvPr/>
        </p:nvSpPr>
        <p:spPr>
          <a:xfrm>
            <a:off x="7552944" y="256032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i="1" lang="en-US" sz="750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USER</a:t>
            </a:r>
            <a:r>
              <a:rPr b="0" i="1" lang="en-US" sz="75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0</a:t>
            </a:r>
            <a:r>
              <a:rPr i="1" lang="en-US" sz="750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25"/>
          <p:cNvSpPr/>
          <p:nvPr/>
        </p:nvSpPr>
        <p:spPr>
          <a:xfrm>
            <a:off x="0" y="566928"/>
            <a:ext cx="9144000" cy="1828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25"/>
          <p:cNvSpPr/>
          <p:nvPr/>
        </p:nvSpPr>
        <p:spPr>
          <a:xfrm>
            <a:off x="256032" y="685800"/>
            <a:ext cx="5532120" cy="4160520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1" name="Google Shape;71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032" y="1356752"/>
            <a:ext cx="5532120" cy="2818615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Google Shape;712;p25"/>
          <p:cNvSpPr/>
          <p:nvPr/>
        </p:nvSpPr>
        <p:spPr>
          <a:xfrm>
            <a:off x="6035040" y="685800"/>
            <a:ext cx="2852928" cy="402336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25"/>
          <p:cNvSpPr/>
          <p:nvPr/>
        </p:nvSpPr>
        <p:spPr>
          <a:xfrm>
            <a:off x="6035040" y="685800"/>
            <a:ext cx="28529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화면번호  7-1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5"/>
          <p:cNvSpPr/>
          <p:nvPr/>
        </p:nvSpPr>
        <p:spPr>
          <a:xfrm>
            <a:off x="6035040" y="1152144"/>
            <a:ext cx="2852928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25"/>
          <p:cNvSpPr/>
          <p:nvPr/>
        </p:nvSpPr>
        <p:spPr>
          <a:xfrm>
            <a:off x="6035040" y="1152144"/>
            <a:ext cx="2852928" cy="45720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25"/>
          <p:cNvSpPr/>
          <p:nvPr/>
        </p:nvSpPr>
        <p:spPr>
          <a:xfrm>
            <a:off x="6163056" y="1243584"/>
            <a:ext cx="2596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950"/>
              <a:buFont typeface="Noto Sans KR"/>
              <a:buNone/>
            </a:pPr>
            <a:r>
              <a:rPr b="1" i="0" lang="en-US" sz="9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화면 설명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5"/>
          <p:cNvSpPr/>
          <p:nvPr/>
        </p:nvSpPr>
        <p:spPr>
          <a:xfrm>
            <a:off x="6163056" y="1517904"/>
            <a:ext cx="2596896" cy="13716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25"/>
          <p:cNvSpPr/>
          <p:nvPr/>
        </p:nvSpPr>
        <p:spPr>
          <a:xfrm>
            <a:off x="6163056" y="1554480"/>
            <a:ext cx="2596896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사용자 프로필 설정 화면입니다.</a:t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네임, 성별, 나이, 피부 타입, 피부 고민 등을 수정할 수 있으며, 프로필 사진 변경 기능과 닉네임 중복 확인 기능을 함께 제공하여 사용자 편의성을 높였습니다.</a:t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피부 타입 및 피부 고민 항목은 다중 선택이 가능하며, 변경된 내용은 저장 버튼을 통해 적용할 수 있습니다.</a:t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t/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19" name="Google Shape;719;p25"/>
          <p:cNvSpPr/>
          <p:nvPr/>
        </p:nvSpPr>
        <p:spPr>
          <a:xfrm>
            <a:off x="6035040" y="3145536"/>
            <a:ext cx="2852928" cy="17007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25"/>
          <p:cNvSpPr/>
          <p:nvPr/>
        </p:nvSpPr>
        <p:spPr>
          <a:xfrm>
            <a:off x="6035040" y="3145536"/>
            <a:ext cx="2852928" cy="45720"/>
          </a:xfrm>
          <a:prstGeom prst="rect">
            <a:avLst/>
          </a:prstGeom>
          <a:solidFill>
            <a:srgbClr val="D4EDB8"/>
          </a:solidFill>
          <a:ln cap="flat" cmpd="sng" w="12700">
            <a:solidFill>
              <a:srgbClr val="D4E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25"/>
          <p:cNvSpPr/>
          <p:nvPr/>
        </p:nvSpPr>
        <p:spPr>
          <a:xfrm>
            <a:off x="6163056" y="3236976"/>
            <a:ext cx="2596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950"/>
              <a:buFont typeface="Noto Sans KR"/>
              <a:buNone/>
            </a:pPr>
            <a:r>
              <a:rPr b="1" i="0" lang="en-US" sz="9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주석 / 메모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25"/>
          <p:cNvSpPr/>
          <p:nvPr/>
        </p:nvSpPr>
        <p:spPr>
          <a:xfrm>
            <a:off x="6163056" y="3511296"/>
            <a:ext cx="2596896" cy="13716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25"/>
          <p:cNvSpPr/>
          <p:nvPr/>
        </p:nvSpPr>
        <p:spPr>
          <a:xfrm>
            <a:off x="6163056" y="3547872"/>
            <a:ext cx="259689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</a:t>
            </a: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프로필 사진은 사용자가 자유롭게 변경할 수 있도록 구현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</a:t>
            </a: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닉네임 중복 확인 버튼으로 입력한 닉네임의 사용 가능 여부 즉시 확인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피부 고민: 다중 선택 </a:t>
            </a: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및 직접 입력 가능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25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25"/>
          <p:cNvSpPr/>
          <p:nvPr/>
        </p:nvSpPr>
        <p:spPr>
          <a:xfrm>
            <a:off x="274320" y="4956048"/>
            <a:ext cx="85953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lang="en-US" sz="750">
                <a:solidFill>
                  <a:srgbClr val="9E9E9E"/>
                </a:solidFill>
                <a:latin typeface="Noto Sans"/>
                <a:ea typeface="Noto Sans"/>
                <a:cs typeface="Noto Sans"/>
                <a:sym typeface="Noto Sans"/>
              </a:rPr>
              <a:t>On You 화면 설계서  |  © 2026 ONYOU. All rights reserved.</a:t>
            </a:r>
            <a:endParaRPr sz="750">
              <a:solidFill>
                <a:srgbClr val="9E9E9E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26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26"/>
          <p:cNvSpPr/>
          <p:nvPr/>
        </p:nvSpPr>
        <p:spPr>
          <a:xfrm>
            <a:off x="0" y="0"/>
            <a:ext cx="54864" cy="566928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26"/>
          <p:cNvSpPr/>
          <p:nvPr/>
        </p:nvSpPr>
        <p:spPr>
          <a:xfrm>
            <a:off x="201168" y="100584"/>
            <a:ext cx="1234440" cy="347472"/>
          </a:xfrm>
          <a:prstGeom prst="roundRect">
            <a:avLst>
              <a:gd fmla="val 18421" name="adj"/>
            </a:avLst>
          </a:prstGeom>
          <a:solidFill>
            <a:srgbClr val="D4EDB8"/>
          </a:solidFill>
          <a:ln cap="flat" cmpd="sng" w="12700">
            <a:solidFill>
              <a:srgbClr val="D4E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26"/>
          <p:cNvSpPr/>
          <p:nvPr/>
        </p:nvSpPr>
        <p:spPr>
          <a:xfrm>
            <a:off x="201168" y="100584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850"/>
              <a:buFont typeface="Noto Sans KR"/>
              <a:buNone/>
            </a:pPr>
            <a:r>
              <a:rPr b="1" i="0" lang="en-US" sz="8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07 설정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26"/>
          <p:cNvSpPr/>
          <p:nvPr/>
        </p:nvSpPr>
        <p:spPr>
          <a:xfrm>
            <a:off x="1554480" y="91440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Noto Sans KR"/>
              <a:buNone/>
            </a:pPr>
            <a:r>
              <a:rPr b="1" i="0" lang="en-US" sz="1400" u="none" cap="none" strike="noStrike">
                <a:solidFill>
                  <a:srgbClr val="1E1E1E"/>
                </a:solidFill>
                <a:latin typeface="Noto Sans KR"/>
                <a:ea typeface="Noto Sans KR"/>
                <a:cs typeface="Noto Sans KR"/>
                <a:sym typeface="Noto Sans KR"/>
              </a:rPr>
              <a:t>7-2    설정 – 소셜 연동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26"/>
          <p:cNvSpPr/>
          <p:nvPr/>
        </p:nvSpPr>
        <p:spPr>
          <a:xfrm>
            <a:off x="5833872" y="91440"/>
            <a:ext cx="13716" cy="38404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26"/>
          <p:cNvSpPr/>
          <p:nvPr/>
        </p:nvSpPr>
        <p:spPr>
          <a:xfrm>
            <a:off x="5870448" y="73152"/>
            <a:ext cx="6583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00"/>
              <a:buFont typeface="Noto Sans KR"/>
              <a:buNone/>
            </a:pPr>
            <a:r>
              <a:rPr b="1" i="0" lang="en-US" sz="70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화면경로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26"/>
          <p:cNvSpPr/>
          <p:nvPr/>
        </p:nvSpPr>
        <p:spPr>
          <a:xfrm>
            <a:off x="5870448" y="256032"/>
            <a:ext cx="1572768" cy="219456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26"/>
          <p:cNvSpPr/>
          <p:nvPr/>
        </p:nvSpPr>
        <p:spPr>
          <a:xfrm>
            <a:off x="7498080" y="91440"/>
            <a:ext cx="13716" cy="38404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26"/>
          <p:cNvSpPr/>
          <p:nvPr/>
        </p:nvSpPr>
        <p:spPr>
          <a:xfrm>
            <a:off x="7534656" y="7315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00"/>
              <a:buFont typeface="Noto Sans KR"/>
              <a:buNone/>
            </a:pPr>
            <a:r>
              <a:rPr b="1" i="0" lang="en-US" sz="70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요구사항 ID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26"/>
          <p:cNvSpPr/>
          <p:nvPr/>
        </p:nvSpPr>
        <p:spPr>
          <a:xfrm>
            <a:off x="7534656" y="256032"/>
            <a:ext cx="1481328" cy="219456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26"/>
          <p:cNvSpPr/>
          <p:nvPr/>
        </p:nvSpPr>
        <p:spPr>
          <a:xfrm>
            <a:off x="0" y="566928"/>
            <a:ext cx="9144000" cy="1828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26"/>
          <p:cNvSpPr/>
          <p:nvPr/>
        </p:nvSpPr>
        <p:spPr>
          <a:xfrm>
            <a:off x="256032" y="685800"/>
            <a:ext cx="5532120" cy="4160520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4" name="Google Shape;74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032" y="1356752"/>
            <a:ext cx="5532120" cy="2818615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26"/>
          <p:cNvSpPr/>
          <p:nvPr/>
        </p:nvSpPr>
        <p:spPr>
          <a:xfrm>
            <a:off x="6035040" y="685800"/>
            <a:ext cx="2852928" cy="402336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26"/>
          <p:cNvSpPr/>
          <p:nvPr/>
        </p:nvSpPr>
        <p:spPr>
          <a:xfrm>
            <a:off x="6035040" y="685800"/>
            <a:ext cx="28529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화면번호  7-2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26"/>
          <p:cNvSpPr/>
          <p:nvPr/>
        </p:nvSpPr>
        <p:spPr>
          <a:xfrm>
            <a:off x="6035040" y="1152144"/>
            <a:ext cx="2852928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26"/>
          <p:cNvSpPr/>
          <p:nvPr/>
        </p:nvSpPr>
        <p:spPr>
          <a:xfrm>
            <a:off x="6035040" y="1152144"/>
            <a:ext cx="2852928" cy="45720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26"/>
          <p:cNvSpPr/>
          <p:nvPr/>
        </p:nvSpPr>
        <p:spPr>
          <a:xfrm>
            <a:off x="6163056" y="1243584"/>
            <a:ext cx="2596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950"/>
              <a:buFont typeface="Noto Sans KR"/>
              <a:buNone/>
            </a:pPr>
            <a:r>
              <a:rPr b="1" i="0" lang="en-US" sz="9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화면 설명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26"/>
          <p:cNvSpPr/>
          <p:nvPr/>
        </p:nvSpPr>
        <p:spPr>
          <a:xfrm>
            <a:off x="6163056" y="1517904"/>
            <a:ext cx="2596896" cy="13716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26"/>
          <p:cNvSpPr/>
          <p:nvPr/>
        </p:nvSpPr>
        <p:spPr>
          <a:xfrm>
            <a:off x="6163056" y="1554480"/>
            <a:ext cx="2596896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Google, 카카오, 네이버 소셜 계정의 연동 상태를 확인할 수 있는 화면입니다.</a:t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각 소셜 계정의 현재 연결 여부가 명확하게 표시되며, 사용자는 연동 상태를 쉽게 파악할 수 있습니다.</a:t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t/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52" name="Google Shape;752;p26"/>
          <p:cNvSpPr/>
          <p:nvPr/>
        </p:nvSpPr>
        <p:spPr>
          <a:xfrm>
            <a:off x="6035040" y="3145536"/>
            <a:ext cx="2852928" cy="17007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26"/>
          <p:cNvSpPr/>
          <p:nvPr/>
        </p:nvSpPr>
        <p:spPr>
          <a:xfrm>
            <a:off x="6035040" y="3145536"/>
            <a:ext cx="2852928" cy="45720"/>
          </a:xfrm>
          <a:prstGeom prst="rect">
            <a:avLst/>
          </a:prstGeom>
          <a:solidFill>
            <a:srgbClr val="D4EDB8"/>
          </a:solidFill>
          <a:ln cap="flat" cmpd="sng" w="12700">
            <a:solidFill>
              <a:srgbClr val="D4E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26"/>
          <p:cNvSpPr/>
          <p:nvPr/>
        </p:nvSpPr>
        <p:spPr>
          <a:xfrm>
            <a:off x="6163056" y="3236976"/>
            <a:ext cx="2596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950"/>
              <a:buFont typeface="Noto Sans KR"/>
              <a:buNone/>
            </a:pPr>
            <a:r>
              <a:rPr b="1" i="0" lang="en-US" sz="9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주석 / 메모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26"/>
          <p:cNvSpPr/>
          <p:nvPr/>
        </p:nvSpPr>
        <p:spPr>
          <a:xfrm>
            <a:off x="6163056" y="3511296"/>
            <a:ext cx="2596896" cy="13716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26"/>
          <p:cNvSpPr/>
          <p:nvPr/>
        </p:nvSpPr>
        <p:spPr>
          <a:xfrm>
            <a:off x="6163056" y="3547872"/>
            <a:ext cx="259689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</a:t>
            </a: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각 소셜 계정별로 ‘연결됨’ 또는 ‘연결되지 않음’ 상태를 명확히 표시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26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26"/>
          <p:cNvSpPr/>
          <p:nvPr/>
        </p:nvSpPr>
        <p:spPr>
          <a:xfrm>
            <a:off x="274320" y="4956048"/>
            <a:ext cx="85953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lang="en-US" sz="750">
                <a:solidFill>
                  <a:srgbClr val="9E9E9E"/>
                </a:solidFill>
                <a:latin typeface="Noto Sans"/>
                <a:ea typeface="Noto Sans"/>
                <a:cs typeface="Noto Sans"/>
                <a:sym typeface="Noto Sans"/>
              </a:rPr>
              <a:t>On You 화면 설계서  |  © 2026 ONYOU. All rights reserved.</a:t>
            </a:r>
            <a:endParaRPr sz="750">
              <a:solidFill>
                <a:srgbClr val="9E9E9E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59" name="Google Shape;759;p26"/>
          <p:cNvSpPr/>
          <p:nvPr/>
        </p:nvSpPr>
        <p:spPr>
          <a:xfrm>
            <a:off x="5888736" y="256032"/>
            <a:ext cx="155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b="0" i="1" lang="en-US" sz="75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홈 &gt; </a:t>
            </a:r>
            <a:r>
              <a:rPr i="1" lang="en-US" sz="750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설정 &gt; </a:t>
            </a:r>
            <a:r>
              <a:rPr i="1" lang="en-US" sz="750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소셜 연동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26"/>
          <p:cNvSpPr/>
          <p:nvPr/>
        </p:nvSpPr>
        <p:spPr>
          <a:xfrm>
            <a:off x="7552944" y="256032"/>
            <a:ext cx="1463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i="1" lang="en-US" sz="750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USER</a:t>
            </a:r>
            <a:r>
              <a:rPr b="0" i="1" lang="en-US" sz="75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0</a:t>
            </a:r>
            <a:r>
              <a:rPr i="1" lang="en-US" sz="750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27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27"/>
          <p:cNvSpPr/>
          <p:nvPr/>
        </p:nvSpPr>
        <p:spPr>
          <a:xfrm>
            <a:off x="0" y="0"/>
            <a:ext cx="54864" cy="566928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27"/>
          <p:cNvSpPr/>
          <p:nvPr/>
        </p:nvSpPr>
        <p:spPr>
          <a:xfrm>
            <a:off x="201168" y="100584"/>
            <a:ext cx="1234440" cy="347472"/>
          </a:xfrm>
          <a:prstGeom prst="roundRect">
            <a:avLst>
              <a:gd fmla="val 18421" name="adj"/>
            </a:avLst>
          </a:prstGeom>
          <a:solidFill>
            <a:srgbClr val="D4EDB8"/>
          </a:solidFill>
          <a:ln cap="flat" cmpd="sng" w="12700">
            <a:solidFill>
              <a:srgbClr val="D4E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27"/>
          <p:cNvSpPr/>
          <p:nvPr/>
        </p:nvSpPr>
        <p:spPr>
          <a:xfrm>
            <a:off x="201168" y="100584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850"/>
              <a:buFont typeface="Noto Sans KR"/>
              <a:buNone/>
            </a:pPr>
            <a:r>
              <a:rPr b="1" i="0" lang="en-US" sz="8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07 설정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27"/>
          <p:cNvSpPr/>
          <p:nvPr/>
        </p:nvSpPr>
        <p:spPr>
          <a:xfrm>
            <a:off x="1554480" y="91440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Noto Sans KR"/>
              <a:buNone/>
            </a:pPr>
            <a:r>
              <a:rPr b="1" i="0" lang="en-US" sz="1400" u="none" cap="none" strike="noStrike">
                <a:solidFill>
                  <a:srgbClr val="1E1E1E"/>
                </a:solidFill>
                <a:latin typeface="Noto Sans KR"/>
                <a:ea typeface="Noto Sans KR"/>
                <a:cs typeface="Noto Sans KR"/>
                <a:sym typeface="Noto Sans KR"/>
              </a:rPr>
              <a:t>7-3-1    설정 – 고객 문의 (사용자)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27"/>
          <p:cNvSpPr/>
          <p:nvPr/>
        </p:nvSpPr>
        <p:spPr>
          <a:xfrm>
            <a:off x="5833872" y="91440"/>
            <a:ext cx="13716" cy="38404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27"/>
          <p:cNvSpPr/>
          <p:nvPr/>
        </p:nvSpPr>
        <p:spPr>
          <a:xfrm>
            <a:off x="5870448" y="73152"/>
            <a:ext cx="6583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00"/>
              <a:buFont typeface="Noto Sans KR"/>
              <a:buNone/>
            </a:pPr>
            <a:r>
              <a:rPr b="1" i="0" lang="en-US" sz="70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화면경로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27"/>
          <p:cNvSpPr/>
          <p:nvPr/>
        </p:nvSpPr>
        <p:spPr>
          <a:xfrm>
            <a:off x="5870448" y="256032"/>
            <a:ext cx="1572768" cy="219456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27"/>
          <p:cNvSpPr/>
          <p:nvPr/>
        </p:nvSpPr>
        <p:spPr>
          <a:xfrm>
            <a:off x="7498080" y="91440"/>
            <a:ext cx="13716" cy="38404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27"/>
          <p:cNvSpPr/>
          <p:nvPr/>
        </p:nvSpPr>
        <p:spPr>
          <a:xfrm>
            <a:off x="7534656" y="7315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00"/>
              <a:buFont typeface="Noto Sans KR"/>
              <a:buNone/>
            </a:pPr>
            <a:r>
              <a:rPr b="1" i="0" lang="en-US" sz="70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요구사항 ID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27"/>
          <p:cNvSpPr/>
          <p:nvPr/>
        </p:nvSpPr>
        <p:spPr>
          <a:xfrm>
            <a:off x="7534656" y="256032"/>
            <a:ext cx="1481328" cy="219456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27"/>
          <p:cNvSpPr/>
          <p:nvPr/>
        </p:nvSpPr>
        <p:spPr>
          <a:xfrm>
            <a:off x="7552944" y="256032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i="1" lang="en-US" sz="750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QNA</a:t>
            </a:r>
            <a:r>
              <a:rPr b="0" i="1" lang="en-US" sz="75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0</a:t>
            </a:r>
            <a:r>
              <a:rPr i="1" lang="en-US" sz="750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27"/>
          <p:cNvSpPr/>
          <p:nvPr/>
        </p:nvSpPr>
        <p:spPr>
          <a:xfrm>
            <a:off x="0" y="566928"/>
            <a:ext cx="9144000" cy="1828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27"/>
          <p:cNvSpPr/>
          <p:nvPr/>
        </p:nvSpPr>
        <p:spPr>
          <a:xfrm>
            <a:off x="256032" y="685800"/>
            <a:ext cx="5532120" cy="4160520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0" name="Google Shape;78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032" y="1356752"/>
            <a:ext cx="5532120" cy="2818615"/>
          </a:xfrm>
          <a:prstGeom prst="rect">
            <a:avLst/>
          </a:prstGeom>
          <a:noFill/>
          <a:ln>
            <a:noFill/>
          </a:ln>
        </p:spPr>
      </p:pic>
      <p:sp>
        <p:nvSpPr>
          <p:cNvPr id="781" name="Google Shape;781;p27"/>
          <p:cNvSpPr/>
          <p:nvPr/>
        </p:nvSpPr>
        <p:spPr>
          <a:xfrm>
            <a:off x="6035040" y="685800"/>
            <a:ext cx="2852928" cy="402336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27"/>
          <p:cNvSpPr/>
          <p:nvPr/>
        </p:nvSpPr>
        <p:spPr>
          <a:xfrm>
            <a:off x="6035040" y="685800"/>
            <a:ext cx="28529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화면번호  7-3-1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27"/>
          <p:cNvSpPr/>
          <p:nvPr/>
        </p:nvSpPr>
        <p:spPr>
          <a:xfrm>
            <a:off x="6035040" y="1152144"/>
            <a:ext cx="2852928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27"/>
          <p:cNvSpPr/>
          <p:nvPr/>
        </p:nvSpPr>
        <p:spPr>
          <a:xfrm>
            <a:off x="6035040" y="1152144"/>
            <a:ext cx="2852928" cy="45720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27"/>
          <p:cNvSpPr/>
          <p:nvPr/>
        </p:nvSpPr>
        <p:spPr>
          <a:xfrm>
            <a:off x="6163056" y="1243584"/>
            <a:ext cx="2596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950"/>
              <a:buFont typeface="Noto Sans KR"/>
              <a:buNone/>
            </a:pPr>
            <a:r>
              <a:rPr b="1" i="0" lang="en-US" sz="9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화면 설명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27"/>
          <p:cNvSpPr/>
          <p:nvPr/>
        </p:nvSpPr>
        <p:spPr>
          <a:xfrm>
            <a:off x="6163056" y="1517904"/>
            <a:ext cx="2596896" cy="13716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27"/>
          <p:cNvSpPr/>
          <p:nvPr/>
        </p:nvSpPr>
        <p:spPr>
          <a:xfrm>
            <a:off x="6163056" y="1554480"/>
            <a:ext cx="2596896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사용자가 작성한 문의 목록과 각 문의의 답변 상태(미답변 혹은 답변 완료)를 확인할 수 있는 화면입니다.</a:t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문의 제목을 클릭하면 상세 문의 내용과 함께 답변 내용을 펼쳐 볼 수 있으며, 사용자가 빠르게 문의 상태를 확인할 수 있도록 설계되었습니다.</a:t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t/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88" name="Google Shape;788;p27"/>
          <p:cNvSpPr/>
          <p:nvPr/>
        </p:nvSpPr>
        <p:spPr>
          <a:xfrm>
            <a:off x="6035040" y="3145536"/>
            <a:ext cx="2852928" cy="17007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27"/>
          <p:cNvSpPr/>
          <p:nvPr/>
        </p:nvSpPr>
        <p:spPr>
          <a:xfrm>
            <a:off x="6035040" y="3145536"/>
            <a:ext cx="2852928" cy="45720"/>
          </a:xfrm>
          <a:prstGeom prst="rect">
            <a:avLst/>
          </a:prstGeom>
          <a:solidFill>
            <a:srgbClr val="D4EDB8"/>
          </a:solidFill>
          <a:ln cap="flat" cmpd="sng" w="12700">
            <a:solidFill>
              <a:srgbClr val="D4E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27"/>
          <p:cNvSpPr/>
          <p:nvPr/>
        </p:nvSpPr>
        <p:spPr>
          <a:xfrm>
            <a:off x="6163056" y="3236976"/>
            <a:ext cx="2596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950"/>
              <a:buFont typeface="Noto Sans KR"/>
              <a:buNone/>
            </a:pPr>
            <a:r>
              <a:rPr b="1" i="0" lang="en-US" sz="9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주석 / 메모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27"/>
          <p:cNvSpPr/>
          <p:nvPr/>
        </p:nvSpPr>
        <p:spPr>
          <a:xfrm>
            <a:off x="6163056" y="3511296"/>
            <a:ext cx="2596896" cy="13716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27"/>
          <p:cNvSpPr/>
          <p:nvPr/>
        </p:nvSpPr>
        <p:spPr>
          <a:xfrm>
            <a:off x="6163056" y="3547872"/>
            <a:ext cx="259689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문의하기 버튼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문의 상태 뱃지 (미답변/답변완료)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문의 수정 / 삭제 버튼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27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27"/>
          <p:cNvSpPr/>
          <p:nvPr/>
        </p:nvSpPr>
        <p:spPr>
          <a:xfrm>
            <a:off x="274320" y="4956048"/>
            <a:ext cx="85953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lang="en-US" sz="750">
                <a:solidFill>
                  <a:srgbClr val="9E9E9E"/>
                </a:solidFill>
                <a:latin typeface="Noto Sans"/>
                <a:ea typeface="Noto Sans"/>
                <a:cs typeface="Noto Sans"/>
                <a:sym typeface="Noto Sans"/>
              </a:rPr>
              <a:t>On You 화면 설계서  |  © 2026 ONYOU. All rights reserved.</a:t>
            </a:r>
            <a:endParaRPr sz="750">
              <a:solidFill>
                <a:srgbClr val="9E9E9E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95" name="Google Shape;795;p27"/>
          <p:cNvSpPr/>
          <p:nvPr/>
        </p:nvSpPr>
        <p:spPr>
          <a:xfrm>
            <a:off x="5888736" y="256032"/>
            <a:ext cx="155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b="0" i="1" lang="en-US" sz="75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홈 &gt; </a:t>
            </a:r>
            <a:r>
              <a:rPr i="1" lang="en-US" sz="750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설정 &gt; </a:t>
            </a:r>
            <a:r>
              <a:rPr i="1" lang="en-US" sz="750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고객 문의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28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28"/>
          <p:cNvSpPr/>
          <p:nvPr/>
        </p:nvSpPr>
        <p:spPr>
          <a:xfrm>
            <a:off x="0" y="0"/>
            <a:ext cx="54864" cy="566928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28"/>
          <p:cNvSpPr/>
          <p:nvPr/>
        </p:nvSpPr>
        <p:spPr>
          <a:xfrm>
            <a:off x="201168" y="100584"/>
            <a:ext cx="1234440" cy="347472"/>
          </a:xfrm>
          <a:prstGeom prst="roundRect">
            <a:avLst>
              <a:gd fmla="val 18421" name="adj"/>
            </a:avLst>
          </a:prstGeom>
          <a:solidFill>
            <a:srgbClr val="D4EDB8"/>
          </a:solidFill>
          <a:ln cap="flat" cmpd="sng" w="12700">
            <a:solidFill>
              <a:srgbClr val="D4E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28"/>
          <p:cNvSpPr/>
          <p:nvPr/>
        </p:nvSpPr>
        <p:spPr>
          <a:xfrm>
            <a:off x="201168" y="100584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850"/>
              <a:buFont typeface="Noto Sans KR"/>
              <a:buNone/>
            </a:pPr>
            <a:r>
              <a:rPr b="1" i="0" lang="en-US" sz="8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07 설정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28"/>
          <p:cNvSpPr/>
          <p:nvPr/>
        </p:nvSpPr>
        <p:spPr>
          <a:xfrm>
            <a:off x="1554480" y="91440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Noto Sans KR"/>
              <a:buNone/>
            </a:pPr>
            <a:r>
              <a:rPr b="1" i="0" lang="en-US" sz="1400" u="none" cap="none" strike="noStrike">
                <a:solidFill>
                  <a:srgbClr val="1E1E1E"/>
                </a:solidFill>
                <a:latin typeface="Noto Sans KR"/>
                <a:ea typeface="Noto Sans KR"/>
                <a:cs typeface="Noto Sans KR"/>
                <a:sym typeface="Noto Sans KR"/>
              </a:rPr>
              <a:t>7-3-2    설정 – 고객 문의 (관리자)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28"/>
          <p:cNvSpPr/>
          <p:nvPr/>
        </p:nvSpPr>
        <p:spPr>
          <a:xfrm>
            <a:off x="5833872" y="91440"/>
            <a:ext cx="13716" cy="38404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28"/>
          <p:cNvSpPr/>
          <p:nvPr/>
        </p:nvSpPr>
        <p:spPr>
          <a:xfrm>
            <a:off x="5870448" y="73152"/>
            <a:ext cx="6583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00"/>
              <a:buFont typeface="Noto Sans KR"/>
              <a:buNone/>
            </a:pPr>
            <a:r>
              <a:rPr b="1" i="0" lang="en-US" sz="70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화면경로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28"/>
          <p:cNvSpPr/>
          <p:nvPr/>
        </p:nvSpPr>
        <p:spPr>
          <a:xfrm>
            <a:off x="5870448" y="256032"/>
            <a:ext cx="1572768" cy="219456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28"/>
          <p:cNvSpPr/>
          <p:nvPr/>
        </p:nvSpPr>
        <p:spPr>
          <a:xfrm>
            <a:off x="7498080" y="91440"/>
            <a:ext cx="13716" cy="38404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28"/>
          <p:cNvSpPr/>
          <p:nvPr/>
        </p:nvSpPr>
        <p:spPr>
          <a:xfrm>
            <a:off x="7534656" y="7315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00"/>
              <a:buFont typeface="Noto Sans KR"/>
              <a:buNone/>
            </a:pPr>
            <a:r>
              <a:rPr b="1" i="0" lang="en-US" sz="70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요구사항 ID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28"/>
          <p:cNvSpPr/>
          <p:nvPr/>
        </p:nvSpPr>
        <p:spPr>
          <a:xfrm>
            <a:off x="7534656" y="256032"/>
            <a:ext cx="1481328" cy="219456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28"/>
          <p:cNvSpPr/>
          <p:nvPr/>
        </p:nvSpPr>
        <p:spPr>
          <a:xfrm>
            <a:off x="0" y="566928"/>
            <a:ext cx="9144000" cy="1828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28"/>
          <p:cNvSpPr/>
          <p:nvPr/>
        </p:nvSpPr>
        <p:spPr>
          <a:xfrm>
            <a:off x="256032" y="685800"/>
            <a:ext cx="5532120" cy="4160520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4" name="Google Shape;814;p28" title="7-3-2 설정-문의목록(관리자).png"/>
          <p:cNvPicPr preferRelativeResize="0"/>
          <p:nvPr/>
        </p:nvPicPr>
        <p:blipFill rotWithShape="1">
          <a:blip r:embed="rId3">
            <a:alphaModFix/>
          </a:blip>
          <a:srcRect b="40" l="0" r="0" t="40"/>
          <a:stretch/>
        </p:blipFill>
        <p:spPr>
          <a:xfrm>
            <a:off x="256032" y="1203236"/>
            <a:ext cx="5532119" cy="3125648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28"/>
          <p:cNvSpPr/>
          <p:nvPr/>
        </p:nvSpPr>
        <p:spPr>
          <a:xfrm>
            <a:off x="6035040" y="685800"/>
            <a:ext cx="2852928" cy="402336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28"/>
          <p:cNvSpPr/>
          <p:nvPr/>
        </p:nvSpPr>
        <p:spPr>
          <a:xfrm>
            <a:off x="6035040" y="685800"/>
            <a:ext cx="28529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화면번호  7-3-2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28"/>
          <p:cNvSpPr/>
          <p:nvPr/>
        </p:nvSpPr>
        <p:spPr>
          <a:xfrm>
            <a:off x="6035040" y="1152144"/>
            <a:ext cx="2852928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28"/>
          <p:cNvSpPr/>
          <p:nvPr/>
        </p:nvSpPr>
        <p:spPr>
          <a:xfrm>
            <a:off x="6035040" y="1152144"/>
            <a:ext cx="2852928" cy="45720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28"/>
          <p:cNvSpPr/>
          <p:nvPr/>
        </p:nvSpPr>
        <p:spPr>
          <a:xfrm>
            <a:off x="6163056" y="1243584"/>
            <a:ext cx="2596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950"/>
              <a:buFont typeface="Noto Sans KR"/>
              <a:buNone/>
            </a:pPr>
            <a:r>
              <a:rPr b="1" i="0" lang="en-US" sz="9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화면 설명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28"/>
          <p:cNvSpPr/>
          <p:nvPr/>
        </p:nvSpPr>
        <p:spPr>
          <a:xfrm>
            <a:off x="6163056" y="1517904"/>
            <a:ext cx="2596896" cy="13716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28"/>
          <p:cNvSpPr/>
          <p:nvPr/>
        </p:nvSpPr>
        <p:spPr>
          <a:xfrm>
            <a:off x="6163056" y="1554480"/>
            <a:ext cx="2596896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관리자 계정에서 모든 사용자의 문의 목록과 답변 상태를 실시간으로 관리할 수 있는 화면입니다.</a:t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관리자는 각 문의에 대해 직접 답변을 작성할 수 있는 영역이 별도로 제공되어 효율적인 고객 응대가 가능합니다.</a:t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일반 사용자 화면과는 별도로 관리자 전용 UI가 구성되어 기능과 권한이 명확히 구분되어 있습니다.</a:t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t/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22" name="Google Shape;822;p28"/>
          <p:cNvSpPr/>
          <p:nvPr/>
        </p:nvSpPr>
        <p:spPr>
          <a:xfrm>
            <a:off x="6035040" y="3145536"/>
            <a:ext cx="2852928" cy="17007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28"/>
          <p:cNvSpPr/>
          <p:nvPr/>
        </p:nvSpPr>
        <p:spPr>
          <a:xfrm>
            <a:off x="6035040" y="3145536"/>
            <a:ext cx="2852928" cy="45720"/>
          </a:xfrm>
          <a:prstGeom prst="rect">
            <a:avLst/>
          </a:prstGeom>
          <a:solidFill>
            <a:srgbClr val="D4EDB8"/>
          </a:solidFill>
          <a:ln cap="flat" cmpd="sng" w="12700">
            <a:solidFill>
              <a:srgbClr val="D4E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28"/>
          <p:cNvSpPr/>
          <p:nvPr/>
        </p:nvSpPr>
        <p:spPr>
          <a:xfrm>
            <a:off x="6163056" y="3236976"/>
            <a:ext cx="2596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950"/>
              <a:buFont typeface="Noto Sans KR"/>
              <a:buNone/>
            </a:pPr>
            <a:r>
              <a:rPr b="1" i="0" lang="en-US" sz="9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주석 / 메모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28"/>
          <p:cNvSpPr/>
          <p:nvPr/>
        </p:nvSpPr>
        <p:spPr>
          <a:xfrm>
            <a:off x="6163056" y="3511296"/>
            <a:ext cx="2596896" cy="13716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28"/>
          <p:cNvSpPr/>
          <p:nvPr/>
        </p:nvSpPr>
        <p:spPr>
          <a:xfrm>
            <a:off x="6163056" y="3547872"/>
            <a:ext cx="259689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</a:t>
            </a: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관리자 전용 답변 작성 영역이 별도로 표시되어 문의에 대해 즉시 답변 등록이 가능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</a:t>
            </a: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문의 삭제 버튼은 관리자에게만 노출되어 불필요하거나 부적절한 문의를 삭제 가능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28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28"/>
          <p:cNvSpPr/>
          <p:nvPr/>
        </p:nvSpPr>
        <p:spPr>
          <a:xfrm>
            <a:off x="274320" y="4956048"/>
            <a:ext cx="85953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lang="en-US" sz="750">
                <a:solidFill>
                  <a:srgbClr val="9E9E9E"/>
                </a:solidFill>
                <a:latin typeface="Noto Sans"/>
                <a:ea typeface="Noto Sans"/>
                <a:cs typeface="Noto Sans"/>
                <a:sym typeface="Noto Sans"/>
              </a:rPr>
              <a:t>On You 화면 설계서  |  © 2026 ONYOU. All rights reserved.</a:t>
            </a:r>
            <a:endParaRPr sz="750">
              <a:solidFill>
                <a:srgbClr val="9E9E9E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29" name="Google Shape;829;p28"/>
          <p:cNvSpPr/>
          <p:nvPr/>
        </p:nvSpPr>
        <p:spPr>
          <a:xfrm>
            <a:off x="5888736" y="256032"/>
            <a:ext cx="155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b="0" i="1" lang="en-US" sz="75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홈 &gt; </a:t>
            </a:r>
            <a:r>
              <a:rPr i="1" lang="en-US" sz="750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설정 &gt; 고객 문의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28"/>
          <p:cNvSpPr/>
          <p:nvPr/>
        </p:nvSpPr>
        <p:spPr>
          <a:xfrm>
            <a:off x="7552944" y="256032"/>
            <a:ext cx="1463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i="1" lang="en-US" sz="750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QNA</a:t>
            </a:r>
            <a:r>
              <a:rPr b="0" i="1" lang="en-US" sz="75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0</a:t>
            </a:r>
            <a:r>
              <a:rPr i="1" lang="en-US" sz="750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29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29"/>
          <p:cNvSpPr/>
          <p:nvPr/>
        </p:nvSpPr>
        <p:spPr>
          <a:xfrm>
            <a:off x="0" y="0"/>
            <a:ext cx="54864" cy="566928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29"/>
          <p:cNvSpPr/>
          <p:nvPr/>
        </p:nvSpPr>
        <p:spPr>
          <a:xfrm>
            <a:off x="201168" y="100584"/>
            <a:ext cx="1234440" cy="347472"/>
          </a:xfrm>
          <a:prstGeom prst="roundRect">
            <a:avLst>
              <a:gd fmla="val 18421" name="adj"/>
            </a:avLst>
          </a:prstGeom>
          <a:solidFill>
            <a:srgbClr val="D4EDB8"/>
          </a:solidFill>
          <a:ln cap="flat" cmpd="sng" w="12700">
            <a:solidFill>
              <a:srgbClr val="D4E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29"/>
          <p:cNvSpPr/>
          <p:nvPr/>
        </p:nvSpPr>
        <p:spPr>
          <a:xfrm>
            <a:off x="201168" y="100584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850"/>
              <a:buFont typeface="Noto Sans KR"/>
              <a:buNone/>
            </a:pPr>
            <a:r>
              <a:rPr b="1" i="0" lang="en-US" sz="8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07 설정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29"/>
          <p:cNvSpPr/>
          <p:nvPr/>
        </p:nvSpPr>
        <p:spPr>
          <a:xfrm>
            <a:off x="1554480" y="91440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Noto Sans KR"/>
              <a:buNone/>
            </a:pPr>
            <a:r>
              <a:rPr b="1" i="0" lang="en-US" sz="1400" u="none" cap="none" strike="noStrike">
                <a:solidFill>
                  <a:srgbClr val="1E1E1E"/>
                </a:solidFill>
                <a:latin typeface="Noto Sans KR"/>
                <a:ea typeface="Noto Sans KR"/>
                <a:cs typeface="Noto Sans KR"/>
                <a:sym typeface="Noto Sans KR"/>
              </a:rPr>
              <a:t>7-3-3    설정 – 문의 작성 (모달)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29"/>
          <p:cNvSpPr/>
          <p:nvPr/>
        </p:nvSpPr>
        <p:spPr>
          <a:xfrm>
            <a:off x="5833872" y="91440"/>
            <a:ext cx="13716" cy="38404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29"/>
          <p:cNvSpPr/>
          <p:nvPr/>
        </p:nvSpPr>
        <p:spPr>
          <a:xfrm>
            <a:off x="5870448" y="73152"/>
            <a:ext cx="6583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00"/>
              <a:buFont typeface="Noto Sans KR"/>
              <a:buNone/>
            </a:pPr>
            <a:r>
              <a:rPr b="1" i="0" lang="en-US" sz="70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화면경로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29"/>
          <p:cNvSpPr/>
          <p:nvPr/>
        </p:nvSpPr>
        <p:spPr>
          <a:xfrm>
            <a:off x="5870448" y="256032"/>
            <a:ext cx="1572768" cy="219456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29"/>
          <p:cNvSpPr/>
          <p:nvPr/>
        </p:nvSpPr>
        <p:spPr>
          <a:xfrm>
            <a:off x="7498080" y="91440"/>
            <a:ext cx="13716" cy="38404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29"/>
          <p:cNvSpPr/>
          <p:nvPr/>
        </p:nvSpPr>
        <p:spPr>
          <a:xfrm>
            <a:off x="7534656" y="7315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00"/>
              <a:buFont typeface="Noto Sans KR"/>
              <a:buNone/>
            </a:pPr>
            <a:r>
              <a:rPr b="1" i="0" lang="en-US" sz="70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요구사항 ID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29"/>
          <p:cNvSpPr/>
          <p:nvPr/>
        </p:nvSpPr>
        <p:spPr>
          <a:xfrm>
            <a:off x="7534656" y="256032"/>
            <a:ext cx="1481328" cy="219456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29"/>
          <p:cNvSpPr/>
          <p:nvPr/>
        </p:nvSpPr>
        <p:spPr>
          <a:xfrm>
            <a:off x="0" y="566928"/>
            <a:ext cx="9144000" cy="1828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29"/>
          <p:cNvSpPr/>
          <p:nvPr/>
        </p:nvSpPr>
        <p:spPr>
          <a:xfrm>
            <a:off x="256032" y="685800"/>
            <a:ext cx="5532120" cy="4160520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49" name="Google Shape;84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032" y="1356752"/>
            <a:ext cx="5532120" cy="2818615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Google Shape;850;p29"/>
          <p:cNvSpPr/>
          <p:nvPr/>
        </p:nvSpPr>
        <p:spPr>
          <a:xfrm>
            <a:off x="6035040" y="685800"/>
            <a:ext cx="2852928" cy="402336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29"/>
          <p:cNvSpPr/>
          <p:nvPr/>
        </p:nvSpPr>
        <p:spPr>
          <a:xfrm>
            <a:off x="6035040" y="685800"/>
            <a:ext cx="28529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화면번호  7-3-3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29"/>
          <p:cNvSpPr/>
          <p:nvPr/>
        </p:nvSpPr>
        <p:spPr>
          <a:xfrm>
            <a:off x="6035040" y="1152144"/>
            <a:ext cx="2852928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29"/>
          <p:cNvSpPr/>
          <p:nvPr/>
        </p:nvSpPr>
        <p:spPr>
          <a:xfrm>
            <a:off x="6035040" y="1152144"/>
            <a:ext cx="2852928" cy="45720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29"/>
          <p:cNvSpPr/>
          <p:nvPr/>
        </p:nvSpPr>
        <p:spPr>
          <a:xfrm>
            <a:off x="6163056" y="1243584"/>
            <a:ext cx="2596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950"/>
              <a:buFont typeface="Noto Sans KR"/>
              <a:buNone/>
            </a:pPr>
            <a:r>
              <a:rPr b="1" i="0" lang="en-US" sz="9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화면 설명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29"/>
          <p:cNvSpPr/>
          <p:nvPr/>
        </p:nvSpPr>
        <p:spPr>
          <a:xfrm>
            <a:off x="6163056" y="1517904"/>
            <a:ext cx="2596896" cy="13716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29"/>
          <p:cNvSpPr/>
          <p:nvPr/>
        </p:nvSpPr>
        <p:spPr>
          <a:xfrm>
            <a:off x="6163056" y="1554480"/>
            <a:ext cx="2596896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고객이 문의 내용을 작성할 수 있는 모달 팝업 화면입니다.</a:t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사용자는 문의 분류를 드롭다운에서 선택하고, 제목과 내용을 입력한 후 문의를 등록할 수 있습니다.</a:t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문의 작성 완료 전에는 취소 버튼을 통해 언제든지 작성 중인 내용을 닫을 수 있습니다.</a:t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t/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57" name="Google Shape;857;p29"/>
          <p:cNvSpPr/>
          <p:nvPr/>
        </p:nvSpPr>
        <p:spPr>
          <a:xfrm>
            <a:off x="6035040" y="3145536"/>
            <a:ext cx="2852928" cy="17007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29"/>
          <p:cNvSpPr/>
          <p:nvPr/>
        </p:nvSpPr>
        <p:spPr>
          <a:xfrm>
            <a:off x="6035040" y="3145536"/>
            <a:ext cx="2852928" cy="45720"/>
          </a:xfrm>
          <a:prstGeom prst="rect">
            <a:avLst/>
          </a:prstGeom>
          <a:solidFill>
            <a:srgbClr val="D4EDB8"/>
          </a:solidFill>
          <a:ln cap="flat" cmpd="sng" w="12700">
            <a:solidFill>
              <a:srgbClr val="D4E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29"/>
          <p:cNvSpPr/>
          <p:nvPr/>
        </p:nvSpPr>
        <p:spPr>
          <a:xfrm>
            <a:off x="6163056" y="3236976"/>
            <a:ext cx="2596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950"/>
              <a:buFont typeface="Noto Sans KR"/>
              <a:buNone/>
            </a:pPr>
            <a:r>
              <a:rPr b="1" i="0" lang="en-US" sz="9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주석 / 메모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29"/>
          <p:cNvSpPr/>
          <p:nvPr/>
        </p:nvSpPr>
        <p:spPr>
          <a:xfrm>
            <a:off x="6163056" y="3511296"/>
            <a:ext cx="2596896" cy="13716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29"/>
          <p:cNvSpPr/>
          <p:nvPr/>
        </p:nvSpPr>
        <p:spPr>
          <a:xfrm>
            <a:off x="6163056" y="3547872"/>
            <a:ext cx="259689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문의 분류 드롭다운 (</a:t>
            </a: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서비스 이용</a:t>
            </a: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채팅</a:t>
            </a: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분석</a:t>
            </a: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기타/일반, 회원</a:t>
            </a: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제목·내용 텍스트 입력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취소 / 문의 등록 버튼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29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29"/>
          <p:cNvSpPr/>
          <p:nvPr/>
        </p:nvSpPr>
        <p:spPr>
          <a:xfrm>
            <a:off x="274320" y="4956048"/>
            <a:ext cx="85953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lang="en-US" sz="750">
                <a:solidFill>
                  <a:srgbClr val="9E9E9E"/>
                </a:solidFill>
                <a:latin typeface="Noto Sans"/>
                <a:ea typeface="Noto Sans"/>
                <a:cs typeface="Noto Sans"/>
                <a:sym typeface="Noto Sans"/>
              </a:rPr>
              <a:t>On You 화면 설계서  |  © 2026 ONYOU. All rights reserved.</a:t>
            </a:r>
            <a:endParaRPr sz="750">
              <a:solidFill>
                <a:srgbClr val="9E9E9E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64" name="Google Shape;864;p29"/>
          <p:cNvSpPr/>
          <p:nvPr/>
        </p:nvSpPr>
        <p:spPr>
          <a:xfrm>
            <a:off x="5888736" y="256032"/>
            <a:ext cx="155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b="0" i="1" lang="en-US" sz="75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홈 &gt; </a:t>
            </a:r>
            <a:r>
              <a:rPr i="1" lang="en-US" sz="750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설정 &gt; 고객 문의 &gt; </a:t>
            </a:r>
            <a:r>
              <a:rPr i="1" lang="en-US" sz="750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문의 작성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29"/>
          <p:cNvSpPr/>
          <p:nvPr/>
        </p:nvSpPr>
        <p:spPr>
          <a:xfrm>
            <a:off x="7552944" y="256032"/>
            <a:ext cx="1463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i="1" lang="en-US" sz="750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QNA</a:t>
            </a:r>
            <a:r>
              <a:rPr b="0" i="1" lang="en-US" sz="75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0</a:t>
            </a:r>
            <a:r>
              <a:rPr i="1" lang="en-US" sz="750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3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30"/>
          <p:cNvSpPr/>
          <p:nvPr/>
        </p:nvSpPr>
        <p:spPr>
          <a:xfrm>
            <a:off x="0" y="0"/>
            <a:ext cx="54864" cy="566928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30"/>
          <p:cNvSpPr/>
          <p:nvPr/>
        </p:nvSpPr>
        <p:spPr>
          <a:xfrm>
            <a:off x="201168" y="100584"/>
            <a:ext cx="1234440" cy="347472"/>
          </a:xfrm>
          <a:prstGeom prst="roundRect">
            <a:avLst>
              <a:gd fmla="val 18421" name="adj"/>
            </a:avLst>
          </a:prstGeom>
          <a:solidFill>
            <a:srgbClr val="D4EDB8"/>
          </a:solidFill>
          <a:ln cap="flat" cmpd="sng" w="12700">
            <a:solidFill>
              <a:srgbClr val="D4E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30"/>
          <p:cNvSpPr/>
          <p:nvPr/>
        </p:nvSpPr>
        <p:spPr>
          <a:xfrm>
            <a:off x="201168" y="100584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850"/>
              <a:buFont typeface="Noto Sans KR"/>
              <a:buNone/>
            </a:pPr>
            <a:r>
              <a:rPr b="1" i="0" lang="en-US" sz="8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07 설정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30"/>
          <p:cNvSpPr/>
          <p:nvPr/>
        </p:nvSpPr>
        <p:spPr>
          <a:xfrm>
            <a:off x="1554480" y="91440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Noto Sans KR"/>
              <a:buNone/>
            </a:pPr>
            <a:r>
              <a:rPr b="1" i="0" lang="en-US" sz="1400" u="none" cap="none" strike="noStrike">
                <a:solidFill>
                  <a:srgbClr val="1E1E1E"/>
                </a:solidFill>
                <a:latin typeface="Noto Sans KR"/>
                <a:ea typeface="Noto Sans KR"/>
                <a:cs typeface="Noto Sans KR"/>
                <a:sym typeface="Noto Sans KR"/>
              </a:rPr>
              <a:t>7-4    설정 – 회원 탈퇴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30"/>
          <p:cNvSpPr/>
          <p:nvPr/>
        </p:nvSpPr>
        <p:spPr>
          <a:xfrm>
            <a:off x="5833872" y="91440"/>
            <a:ext cx="13716" cy="38404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30"/>
          <p:cNvSpPr/>
          <p:nvPr/>
        </p:nvSpPr>
        <p:spPr>
          <a:xfrm>
            <a:off x="5870448" y="73152"/>
            <a:ext cx="6583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00"/>
              <a:buFont typeface="Noto Sans KR"/>
              <a:buNone/>
            </a:pPr>
            <a:r>
              <a:rPr b="1" i="0" lang="en-US" sz="70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화면경로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30"/>
          <p:cNvSpPr/>
          <p:nvPr/>
        </p:nvSpPr>
        <p:spPr>
          <a:xfrm>
            <a:off x="5870448" y="256032"/>
            <a:ext cx="1572768" cy="219456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30"/>
          <p:cNvSpPr/>
          <p:nvPr/>
        </p:nvSpPr>
        <p:spPr>
          <a:xfrm>
            <a:off x="7498080" y="91440"/>
            <a:ext cx="13716" cy="38404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30"/>
          <p:cNvSpPr/>
          <p:nvPr/>
        </p:nvSpPr>
        <p:spPr>
          <a:xfrm>
            <a:off x="7534656" y="7315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00"/>
              <a:buFont typeface="Noto Sans KR"/>
              <a:buNone/>
            </a:pPr>
            <a:r>
              <a:rPr b="1" i="0" lang="en-US" sz="70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요구사항 ID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30"/>
          <p:cNvSpPr/>
          <p:nvPr/>
        </p:nvSpPr>
        <p:spPr>
          <a:xfrm>
            <a:off x="7534656" y="256032"/>
            <a:ext cx="1481328" cy="219456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30"/>
          <p:cNvSpPr/>
          <p:nvPr/>
        </p:nvSpPr>
        <p:spPr>
          <a:xfrm>
            <a:off x="0" y="566928"/>
            <a:ext cx="9144000" cy="1828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30"/>
          <p:cNvSpPr/>
          <p:nvPr/>
        </p:nvSpPr>
        <p:spPr>
          <a:xfrm>
            <a:off x="256032" y="685800"/>
            <a:ext cx="5532120" cy="4160520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84" name="Google Shape;88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032" y="1356752"/>
            <a:ext cx="5532120" cy="2818615"/>
          </a:xfrm>
          <a:prstGeom prst="rect">
            <a:avLst/>
          </a:prstGeom>
          <a:noFill/>
          <a:ln>
            <a:noFill/>
          </a:ln>
        </p:spPr>
      </p:pic>
      <p:sp>
        <p:nvSpPr>
          <p:cNvPr id="885" name="Google Shape;885;p30"/>
          <p:cNvSpPr/>
          <p:nvPr/>
        </p:nvSpPr>
        <p:spPr>
          <a:xfrm>
            <a:off x="6035040" y="685800"/>
            <a:ext cx="2852928" cy="402336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30"/>
          <p:cNvSpPr/>
          <p:nvPr/>
        </p:nvSpPr>
        <p:spPr>
          <a:xfrm>
            <a:off x="6035040" y="685800"/>
            <a:ext cx="28529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화면번호  7-4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30"/>
          <p:cNvSpPr/>
          <p:nvPr/>
        </p:nvSpPr>
        <p:spPr>
          <a:xfrm>
            <a:off x="6035040" y="1152144"/>
            <a:ext cx="2852928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30"/>
          <p:cNvSpPr/>
          <p:nvPr/>
        </p:nvSpPr>
        <p:spPr>
          <a:xfrm>
            <a:off x="6035040" y="1152144"/>
            <a:ext cx="2852928" cy="45720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30"/>
          <p:cNvSpPr/>
          <p:nvPr/>
        </p:nvSpPr>
        <p:spPr>
          <a:xfrm>
            <a:off x="6163056" y="1243584"/>
            <a:ext cx="2596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950"/>
              <a:buFont typeface="Noto Sans KR"/>
              <a:buNone/>
            </a:pPr>
            <a:r>
              <a:rPr b="1" i="0" lang="en-US" sz="9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화면 설명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30"/>
          <p:cNvSpPr/>
          <p:nvPr/>
        </p:nvSpPr>
        <p:spPr>
          <a:xfrm>
            <a:off x="6163056" y="1517904"/>
            <a:ext cx="2596896" cy="13716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30"/>
          <p:cNvSpPr/>
          <p:nvPr/>
        </p:nvSpPr>
        <p:spPr>
          <a:xfrm>
            <a:off x="6163056" y="1554480"/>
            <a:ext cx="2596896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회원 탈퇴 전 주의사항을 명확히 안내하고, 사용자가 ‘회원탈퇴’라는 텍스트를 직접 입력해야만 탈퇴 버튼이 활성화되어 탈퇴 절차를 진행할 수 있는 화면입니다.</a:t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회원 탈퇴 후 10일 이내에는 계정을 복구할 수 있으나, 10일이 지나면 모든 데이터가 완전히 삭제되어 복구가 불가능함을 안내합니다.</a:t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중요 내용을 빨간색 경고 박스로 강조하여 사용자에게 신중한 결정을 유도합니다.</a:t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t/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92" name="Google Shape;892;p30"/>
          <p:cNvSpPr/>
          <p:nvPr/>
        </p:nvSpPr>
        <p:spPr>
          <a:xfrm>
            <a:off x="6035040" y="3145536"/>
            <a:ext cx="2852928" cy="17007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30"/>
          <p:cNvSpPr/>
          <p:nvPr/>
        </p:nvSpPr>
        <p:spPr>
          <a:xfrm>
            <a:off x="6035040" y="3145536"/>
            <a:ext cx="2852928" cy="45720"/>
          </a:xfrm>
          <a:prstGeom prst="rect">
            <a:avLst/>
          </a:prstGeom>
          <a:solidFill>
            <a:srgbClr val="D4EDB8"/>
          </a:solidFill>
          <a:ln cap="flat" cmpd="sng" w="12700">
            <a:solidFill>
              <a:srgbClr val="D4E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30"/>
          <p:cNvSpPr/>
          <p:nvPr/>
        </p:nvSpPr>
        <p:spPr>
          <a:xfrm>
            <a:off x="6163056" y="3236976"/>
            <a:ext cx="2596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950"/>
              <a:buFont typeface="Noto Sans KR"/>
              <a:buNone/>
            </a:pPr>
            <a:r>
              <a:rPr b="1" i="0" lang="en-US" sz="9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주석 / 메모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30"/>
          <p:cNvSpPr/>
          <p:nvPr/>
        </p:nvSpPr>
        <p:spPr>
          <a:xfrm>
            <a:off x="6163056" y="3511296"/>
            <a:ext cx="2596896" cy="13716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30"/>
          <p:cNvSpPr/>
          <p:nvPr/>
        </p:nvSpPr>
        <p:spPr>
          <a:xfrm>
            <a:off x="6163056" y="3547872"/>
            <a:ext cx="259689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</a:t>
            </a: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탈퇴 유예 기간 10일을 명확히 안내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</a:t>
            </a: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‘회원탈퇴’ 텍스트를 정확히 입력해야만 탈퇴 버튼이 활성화되도록 구현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</a:t>
            </a: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빨간색 경고 박스를 사용하여 탈퇴 시 데이터 삭제와 복구 불가 사실을 시각적으로 강조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30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30"/>
          <p:cNvSpPr/>
          <p:nvPr/>
        </p:nvSpPr>
        <p:spPr>
          <a:xfrm>
            <a:off x="274320" y="4956048"/>
            <a:ext cx="85953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lang="en-US" sz="750">
                <a:solidFill>
                  <a:srgbClr val="9E9E9E"/>
                </a:solidFill>
                <a:latin typeface="Noto Sans"/>
                <a:ea typeface="Noto Sans"/>
                <a:cs typeface="Noto Sans"/>
                <a:sym typeface="Noto Sans"/>
              </a:rPr>
              <a:t>On You 화면 설계서  |  © 2026 ONYOU. All rights reserved.</a:t>
            </a:r>
            <a:endParaRPr sz="750">
              <a:solidFill>
                <a:srgbClr val="9E9E9E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99" name="Google Shape;899;p30"/>
          <p:cNvSpPr/>
          <p:nvPr/>
        </p:nvSpPr>
        <p:spPr>
          <a:xfrm>
            <a:off x="5888736" y="256032"/>
            <a:ext cx="155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b="0" i="1" lang="en-US" sz="75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홈 &gt; </a:t>
            </a:r>
            <a:r>
              <a:rPr i="1" lang="en-US" sz="750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설정 &gt; </a:t>
            </a:r>
            <a:r>
              <a:rPr i="1" lang="en-US" sz="750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회원 탈퇴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30"/>
          <p:cNvSpPr/>
          <p:nvPr/>
        </p:nvSpPr>
        <p:spPr>
          <a:xfrm>
            <a:off x="7552944" y="256032"/>
            <a:ext cx="1463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i="1" lang="en-US" sz="750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USER</a:t>
            </a:r>
            <a:r>
              <a:rPr b="0" i="1" lang="en-US" sz="75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0</a:t>
            </a:r>
            <a:r>
              <a:rPr i="1" lang="en-US" sz="750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31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31"/>
          <p:cNvSpPr/>
          <p:nvPr/>
        </p:nvSpPr>
        <p:spPr>
          <a:xfrm>
            <a:off x="-731520" y="2926080"/>
            <a:ext cx="2743200" cy="2743200"/>
          </a:xfrm>
          <a:prstGeom prst="ellipse">
            <a:avLst/>
          </a:prstGeom>
          <a:solidFill>
            <a:srgbClr val="5A8A28">
              <a:alpha val="30196"/>
            </a:srgbClr>
          </a:solidFill>
          <a:ln cap="flat" cmpd="sng" w="12700">
            <a:solidFill>
              <a:srgbClr val="5A8A28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31"/>
          <p:cNvSpPr/>
          <p:nvPr/>
        </p:nvSpPr>
        <p:spPr>
          <a:xfrm>
            <a:off x="137160" y="457200"/>
            <a:ext cx="32004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0"/>
              <a:buFont typeface="Noto Sans KR"/>
              <a:buNone/>
            </a:pPr>
            <a:r>
              <a:rPr b="1" i="0" lang="en-US" sz="100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08</a:t>
            </a:r>
            <a:endParaRPr b="0" i="0" sz="10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31"/>
          <p:cNvSpPr/>
          <p:nvPr/>
        </p:nvSpPr>
        <p:spPr>
          <a:xfrm>
            <a:off x="3840480" y="1371600"/>
            <a:ext cx="5029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3600"/>
              <a:buFont typeface="Noto Sans KR"/>
              <a:buNone/>
            </a:pPr>
            <a:r>
              <a:rPr b="1" i="0" lang="en-US" sz="3600" u="none" cap="none" strike="noStrike">
                <a:solidFill>
                  <a:srgbClr val="1E1E1E"/>
                </a:solidFill>
                <a:latin typeface="Noto Sans"/>
                <a:ea typeface="Noto Sans"/>
                <a:cs typeface="Noto Sans"/>
                <a:sym typeface="Noto Sans"/>
              </a:rPr>
              <a:t>FAQ</a:t>
            </a:r>
            <a:endParaRPr i="0" sz="3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10" name="Google Shape;910;p31"/>
          <p:cNvSpPr/>
          <p:nvPr/>
        </p:nvSpPr>
        <p:spPr>
          <a:xfrm>
            <a:off x="3840480" y="2423160"/>
            <a:ext cx="1097280" cy="54864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31"/>
          <p:cNvSpPr/>
          <p:nvPr/>
        </p:nvSpPr>
        <p:spPr>
          <a:xfrm>
            <a:off x="3840480" y="260604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자주 묻는 질문 모음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31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31"/>
          <p:cNvSpPr/>
          <p:nvPr/>
        </p:nvSpPr>
        <p:spPr>
          <a:xfrm>
            <a:off x="365760" y="4919472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lang="en-US" sz="750">
                <a:solidFill>
                  <a:srgbClr val="9E9E9E"/>
                </a:solidFill>
                <a:latin typeface="Noto Sans"/>
                <a:ea typeface="Noto Sans"/>
                <a:cs typeface="Noto Sans"/>
                <a:sym typeface="Noto Sans"/>
              </a:rPr>
              <a:t>On You 화면 설계서  |  © 2026 ONYOU.</a:t>
            </a:r>
            <a:endParaRPr sz="800">
              <a:solidFill>
                <a:srgbClr val="9E9E9E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32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32"/>
          <p:cNvSpPr/>
          <p:nvPr/>
        </p:nvSpPr>
        <p:spPr>
          <a:xfrm>
            <a:off x="0" y="0"/>
            <a:ext cx="54864" cy="566928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32"/>
          <p:cNvSpPr/>
          <p:nvPr/>
        </p:nvSpPr>
        <p:spPr>
          <a:xfrm>
            <a:off x="201168" y="100584"/>
            <a:ext cx="1234440" cy="347472"/>
          </a:xfrm>
          <a:prstGeom prst="roundRect">
            <a:avLst>
              <a:gd fmla="val 18421" name="adj"/>
            </a:avLst>
          </a:prstGeom>
          <a:solidFill>
            <a:srgbClr val="D4EDB8"/>
          </a:solidFill>
          <a:ln cap="flat" cmpd="sng" w="12700">
            <a:solidFill>
              <a:srgbClr val="D4E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32"/>
          <p:cNvSpPr/>
          <p:nvPr/>
        </p:nvSpPr>
        <p:spPr>
          <a:xfrm>
            <a:off x="201168" y="100584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850"/>
              <a:buFont typeface="Noto Sans KR"/>
              <a:buNone/>
            </a:pPr>
            <a:r>
              <a:rPr b="1" i="0" lang="en-US" sz="8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08 FAQ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32"/>
          <p:cNvSpPr/>
          <p:nvPr/>
        </p:nvSpPr>
        <p:spPr>
          <a:xfrm>
            <a:off x="1554480" y="91440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Noto Sans KR"/>
              <a:buNone/>
            </a:pPr>
            <a:r>
              <a:rPr b="1" i="0" lang="en-US" sz="1400" u="none" cap="none" strike="noStrike">
                <a:solidFill>
                  <a:srgbClr val="1E1E1E"/>
                </a:solidFill>
                <a:latin typeface="Noto Sans KR"/>
                <a:ea typeface="Noto Sans KR"/>
                <a:cs typeface="Noto Sans KR"/>
                <a:sym typeface="Noto Sans KR"/>
              </a:rPr>
              <a:t>8    FAQ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32"/>
          <p:cNvSpPr/>
          <p:nvPr/>
        </p:nvSpPr>
        <p:spPr>
          <a:xfrm>
            <a:off x="5833872" y="91440"/>
            <a:ext cx="13716" cy="38404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32"/>
          <p:cNvSpPr/>
          <p:nvPr/>
        </p:nvSpPr>
        <p:spPr>
          <a:xfrm>
            <a:off x="5870448" y="73152"/>
            <a:ext cx="6583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00"/>
              <a:buFont typeface="Noto Sans KR"/>
              <a:buNone/>
            </a:pPr>
            <a:r>
              <a:rPr b="1" i="0" lang="en-US" sz="70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화면경로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32"/>
          <p:cNvSpPr/>
          <p:nvPr/>
        </p:nvSpPr>
        <p:spPr>
          <a:xfrm>
            <a:off x="5870448" y="256032"/>
            <a:ext cx="1572768" cy="219456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32"/>
          <p:cNvSpPr/>
          <p:nvPr/>
        </p:nvSpPr>
        <p:spPr>
          <a:xfrm>
            <a:off x="5888736" y="256032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b="0" i="1" lang="en-US" sz="75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홈 &gt; </a:t>
            </a:r>
            <a:r>
              <a:rPr i="1" lang="en-US" sz="750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FAQ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32"/>
          <p:cNvSpPr/>
          <p:nvPr/>
        </p:nvSpPr>
        <p:spPr>
          <a:xfrm>
            <a:off x="7498080" y="91440"/>
            <a:ext cx="13716" cy="38404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32"/>
          <p:cNvSpPr/>
          <p:nvPr/>
        </p:nvSpPr>
        <p:spPr>
          <a:xfrm>
            <a:off x="7534656" y="7315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00"/>
              <a:buFont typeface="Noto Sans KR"/>
              <a:buNone/>
            </a:pPr>
            <a:r>
              <a:rPr b="1" i="0" lang="en-US" sz="700" u="none" cap="none" strike="noStrike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요구사항 ID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32"/>
          <p:cNvSpPr/>
          <p:nvPr/>
        </p:nvSpPr>
        <p:spPr>
          <a:xfrm>
            <a:off x="7534656" y="256032"/>
            <a:ext cx="1481328" cy="219456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32"/>
          <p:cNvSpPr/>
          <p:nvPr/>
        </p:nvSpPr>
        <p:spPr>
          <a:xfrm>
            <a:off x="7552944" y="256032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i="1" lang="en-US" sz="750">
                <a:solidFill>
                  <a:srgbClr val="9E9E9E"/>
                </a:solidFill>
                <a:latin typeface="Noto Sans KR"/>
                <a:ea typeface="Noto Sans KR"/>
                <a:cs typeface="Noto Sans KR"/>
                <a:sym typeface="Noto Sans KR"/>
              </a:rPr>
              <a:t>FAQ01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32"/>
          <p:cNvSpPr/>
          <p:nvPr/>
        </p:nvSpPr>
        <p:spPr>
          <a:xfrm>
            <a:off x="0" y="566928"/>
            <a:ext cx="9144000" cy="1828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32"/>
          <p:cNvSpPr/>
          <p:nvPr/>
        </p:nvSpPr>
        <p:spPr>
          <a:xfrm>
            <a:off x="256032" y="685800"/>
            <a:ext cx="5532120" cy="4160520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4" name="Google Shape;934;p32" title="8 FAQ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1832" y="685800"/>
            <a:ext cx="4160522" cy="4160522"/>
          </a:xfrm>
          <a:prstGeom prst="rect">
            <a:avLst/>
          </a:prstGeom>
          <a:noFill/>
          <a:ln>
            <a:noFill/>
          </a:ln>
        </p:spPr>
      </p:pic>
      <p:sp>
        <p:nvSpPr>
          <p:cNvPr id="935" name="Google Shape;935;p32"/>
          <p:cNvSpPr/>
          <p:nvPr/>
        </p:nvSpPr>
        <p:spPr>
          <a:xfrm>
            <a:off x="6035040" y="685800"/>
            <a:ext cx="2852928" cy="402336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32"/>
          <p:cNvSpPr/>
          <p:nvPr/>
        </p:nvSpPr>
        <p:spPr>
          <a:xfrm>
            <a:off x="6035040" y="685800"/>
            <a:ext cx="28529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화면번호  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32"/>
          <p:cNvSpPr/>
          <p:nvPr/>
        </p:nvSpPr>
        <p:spPr>
          <a:xfrm>
            <a:off x="6035040" y="1152144"/>
            <a:ext cx="2852928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32"/>
          <p:cNvSpPr/>
          <p:nvPr/>
        </p:nvSpPr>
        <p:spPr>
          <a:xfrm>
            <a:off x="6035040" y="1152144"/>
            <a:ext cx="2852928" cy="45720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32"/>
          <p:cNvSpPr/>
          <p:nvPr/>
        </p:nvSpPr>
        <p:spPr>
          <a:xfrm>
            <a:off x="6163056" y="1243584"/>
            <a:ext cx="2596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950"/>
              <a:buFont typeface="Noto Sans KR"/>
              <a:buNone/>
            </a:pPr>
            <a:r>
              <a:rPr b="1" i="0" lang="en-US" sz="9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화면 설명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32"/>
          <p:cNvSpPr/>
          <p:nvPr/>
        </p:nvSpPr>
        <p:spPr>
          <a:xfrm>
            <a:off x="6163056" y="1517904"/>
            <a:ext cx="2596896" cy="13716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32"/>
          <p:cNvSpPr/>
          <p:nvPr/>
        </p:nvSpPr>
        <p:spPr>
          <a:xfrm>
            <a:off x="6163056" y="1554480"/>
            <a:ext cx="2596896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서비스 소개, 이용 안내, 회원/계정, 피부 분석, 성능 및 품질, 추천 서비스, 개인정보 보호 등 주요 카테고리별 자주 묻는 질문 20개를 아코디언 형식으로 제공하는 화면입니다.</a:t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각 질문은 카테고리 태그와 함께 분류되어 사용자가 원하는 분야를 쉽게 찾을 수 있도록 구성되어 있습니다.</a:t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t/>
            </a:r>
            <a:endParaRPr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42" name="Google Shape;942;p32"/>
          <p:cNvSpPr/>
          <p:nvPr/>
        </p:nvSpPr>
        <p:spPr>
          <a:xfrm>
            <a:off x="6035040" y="3145536"/>
            <a:ext cx="2852928" cy="17007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32"/>
          <p:cNvSpPr/>
          <p:nvPr/>
        </p:nvSpPr>
        <p:spPr>
          <a:xfrm>
            <a:off x="6035040" y="3145536"/>
            <a:ext cx="2852928" cy="45720"/>
          </a:xfrm>
          <a:prstGeom prst="rect">
            <a:avLst/>
          </a:prstGeom>
          <a:solidFill>
            <a:srgbClr val="D4EDB8"/>
          </a:solidFill>
          <a:ln cap="flat" cmpd="sng" w="12700">
            <a:solidFill>
              <a:srgbClr val="D4E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32"/>
          <p:cNvSpPr/>
          <p:nvPr/>
        </p:nvSpPr>
        <p:spPr>
          <a:xfrm>
            <a:off x="6163056" y="3236976"/>
            <a:ext cx="2596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8A28"/>
              </a:buClr>
              <a:buSzPts val="950"/>
              <a:buFont typeface="Noto Sans KR"/>
              <a:buNone/>
            </a:pPr>
            <a:r>
              <a:rPr b="1" i="0" lang="en-US" sz="950" u="none" cap="none" strike="noStrike">
                <a:solidFill>
                  <a:srgbClr val="5A8A28"/>
                </a:solidFill>
                <a:latin typeface="Noto Sans KR"/>
                <a:ea typeface="Noto Sans KR"/>
                <a:cs typeface="Noto Sans KR"/>
                <a:sym typeface="Noto Sans KR"/>
              </a:rPr>
              <a:t>주석 / 메모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32"/>
          <p:cNvSpPr/>
          <p:nvPr/>
        </p:nvSpPr>
        <p:spPr>
          <a:xfrm>
            <a:off x="6163056" y="3511296"/>
            <a:ext cx="2596896" cy="13716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32"/>
          <p:cNvSpPr/>
          <p:nvPr/>
        </p:nvSpPr>
        <p:spPr>
          <a:xfrm>
            <a:off x="6163056" y="3547872"/>
            <a:ext cx="259689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</a:t>
            </a: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각 FAQ 항목은 [서비스 소개], [피부 분석] 등 카테고리 태그가 명확히 표시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아코디언 펼치기/접기 UI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- </a:t>
            </a:r>
            <a:r>
              <a:rPr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첫 번째 질문에 해당하는 답변은 기본적으로 펼쳐진 상태로 노출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32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32"/>
          <p:cNvSpPr/>
          <p:nvPr/>
        </p:nvSpPr>
        <p:spPr>
          <a:xfrm>
            <a:off x="274320" y="4956048"/>
            <a:ext cx="85953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Noto Sans KR"/>
              <a:buNone/>
            </a:pPr>
            <a:r>
              <a:rPr lang="en-US" sz="750">
                <a:solidFill>
                  <a:srgbClr val="9E9E9E"/>
                </a:solidFill>
                <a:latin typeface="Noto Sans"/>
                <a:ea typeface="Noto Sans"/>
                <a:cs typeface="Noto Sans"/>
                <a:sym typeface="Noto Sans"/>
              </a:rPr>
              <a:t>On You 화면 설계서  |  © 2026 ONYOU. All rights reserved.</a:t>
            </a:r>
            <a:endParaRPr sz="750">
              <a:solidFill>
                <a:srgbClr val="9E9E9E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33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33"/>
          <p:cNvSpPr/>
          <p:nvPr/>
        </p:nvSpPr>
        <p:spPr>
          <a:xfrm>
            <a:off x="-914400" y="2743200"/>
            <a:ext cx="3200400" cy="3200400"/>
          </a:xfrm>
          <a:prstGeom prst="ellipse">
            <a:avLst/>
          </a:prstGeom>
          <a:solidFill>
            <a:srgbClr val="5A8A28">
              <a:alpha val="30196"/>
            </a:srgbClr>
          </a:solidFill>
          <a:ln cap="flat" cmpd="sng" w="12700">
            <a:solidFill>
              <a:srgbClr val="5A8A28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33"/>
          <p:cNvSpPr/>
          <p:nvPr/>
        </p:nvSpPr>
        <p:spPr>
          <a:xfrm>
            <a:off x="3749040" y="1463040"/>
            <a:ext cx="5120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3800"/>
              <a:buFont typeface="Noto Sans KR"/>
              <a:buNone/>
            </a:pPr>
            <a:r>
              <a:rPr b="1" i="0" lang="en-US" sz="3800" u="none" cap="none" strike="noStrike">
                <a:solidFill>
                  <a:srgbClr val="1E1E1E"/>
                </a:solidFill>
                <a:latin typeface="Noto Sans KR"/>
                <a:ea typeface="Noto Sans KR"/>
                <a:cs typeface="Noto Sans KR"/>
                <a:sym typeface="Noto Sans KR"/>
              </a:rPr>
              <a:t>감사합니다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33"/>
          <p:cNvSpPr/>
          <p:nvPr/>
        </p:nvSpPr>
        <p:spPr>
          <a:xfrm>
            <a:off x="3749040" y="2560320"/>
            <a:ext cx="1280160" cy="64008"/>
          </a:xfrm>
          <a:prstGeom prst="rect">
            <a:avLst/>
          </a:prstGeom>
          <a:solidFill>
            <a:srgbClr val="84C13D"/>
          </a:solidFill>
          <a:ln cap="flat" cmpd="sng" w="12700">
            <a:solidFill>
              <a:srgbClr val="84C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33"/>
          <p:cNvSpPr/>
          <p:nvPr/>
        </p:nvSpPr>
        <p:spPr>
          <a:xfrm>
            <a:off x="3749040" y="274320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00"/>
              <a:buFont typeface="Noto Sans KR"/>
              <a:buNone/>
            </a:pPr>
            <a:r>
              <a:rPr b="0" i="0" lang="en-US" sz="14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O</a:t>
            </a:r>
            <a:r>
              <a:rPr lang="en-US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n </a:t>
            </a:r>
            <a:r>
              <a:rPr b="0" i="0" lang="en-US" sz="14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Y</a:t>
            </a:r>
            <a:r>
              <a:rPr lang="en-US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ou</a:t>
            </a:r>
            <a:r>
              <a:rPr b="0" i="0" lang="en-US" sz="14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 화면 설계서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33"/>
          <p:cNvSpPr/>
          <p:nvPr/>
        </p:nvSpPr>
        <p:spPr>
          <a:xfrm>
            <a:off x="3749040" y="324612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100"/>
              <a:buFont typeface="Noto Sans KR"/>
              <a:buNone/>
            </a:pPr>
            <a:r>
              <a:rPr i="1" lang="en-US" sz="1100" u="none" cap="none" strike="noStrike">
                <a:solidFill>
                  <a:srgbClr val="9E9E9E"/>
                </a:solidFill>
                <a:latin typeface="Noto Sans"/>
                <a:ea typeface="Noto Sans"/>
                <a:cs typeface="Noto Sans"/>
                <a:sym typeface="Noto Sans"/>
              </a:rPr>
              <a:t>SKN23-4th-3TEAM  |  2026.03.24</a:t>
            </a:r>
            <a:endParaRPr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0" name="Google Shape;960;p33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33"/>
          <p:cNvSpPr/>
          <p:nvPr/>
        </p:nvSpPr>
        <p:spPr>
          <a:xfrm>
            <a:off x="365760" y="4919472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800"/>
              <a:buFont typeface="Noto Sans KR"/>
              <a:buNone/>
            </a:pPr>
            <a:r>
              <a:rPr i="0" lang="en-US" sz="800" u="none" cap="none" strike="noStrike">
                <a:solidFill>
                  <a:srgbClr val="9E9E9E"/>
                </a:solidFill>
                <a:latin typeface="Noto Sans"/>
                <a:ea typeface="Noto Sans"/>
                <a:cs typeface="Noto Sans"/>
                <a:sym typeface="Noto Sans"/>
              </a:rPr>
              <a:t>© 2026 ONYOU. All rights reserved.</a:t>
            </a:r>
            <a:endParaRPr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2026-03-23T19:18:30Z</dcterms:created>
  <dc:creator>SKN23-4th-3TEAM</dc:creator>
</cp:coreProperties>
</file>